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4"/>
  </p:sldMasterIdLst>
  <p:notesMasterIdLst>
    <p:notesMasterId r:id="rId34"/>
  </p:notesMasterIdLst>
  <p:sldIdLst>
    <p:sldId id="256" r:id="rId5"/>
    <p:sldId id="257" r:id="rId6"/>
    <p:sldId id="258" r:id="rId7"/>
    <p:sldId id="276" r:id="rId8"/>
    <p:sldId id="259" r:id="rId9"/>
    <p:sldId id="260" r:id="rId10"/>
    <p:sldId id="261" r:id="rId11"/>
    <p:sldId id="262" r:id="rId12"/>
    <p:sldId id="263" r:id="rId13"/>
    <p:sldId id="264" r:id="rId14"/>
    <p:sldId id="280" r:id="rId15"/>
    <p:sldId id="281" r:id="rId16"/>
    <p:sldId id="265" r:id="rId17"/>
    <p:sldId id="282" r:id="rId18"/>
    <p:sldId id="266" r:id="rId19"/>
    <p:sldId id="267" r:id="rId20"/>
    <p:sldId id="275" r:id="rId21"/>
    <p:sldId id="283" r:id="rId22"/>
    <p:sldId id="268" r:id="rId23"/>
    <p:sldId id="269" r:id="rId24"/>
    <p:sldId id="271" r:id="rId25"/>
    <p:sldId id="272" r:id="rId26"/>
    <p:sldId id="273" r:id="rId27"/>
    <p:sldId id="277" r:id="rId28"/>
    <p:sldId id="284" r:id="rId29"/>
    <p:sldId id="285" r:id="rId30"/>
    <p:sldId id="278" r:id="rId31"/>
    <p:sldId id="286" r:id="rId32"/>
    <p:sldId id="279" r:id="rId33"/>
  </p:sldIdLst>
  <p:sldSz cx="9144000" cy="6858000" type="screen4x3"/>
  <p:notesSz cx="6858000" cy="9144000"/>
  <p:embeddedFontLst>
    <p:embeddedFont>
      <p:font typeface="Economica" panose="02000506040000020004" pitchFamily="2" charset="77"/>
      <p:regular r:id="rId35"/>
      <p:bold r:id="rId36"/>
      <p:italic r:id="rId37"/>
      <p:boldItalic r:id="rId38"/>
    </p:embeddedFont>
    <p:embeddedFont>
      <p:font typeface="Open Sans" panose="020B0606030504020204" pitchFamily="34" charset="0"/>
      <p:regular r:id="rId39"/>
      <p:bold r:id="rId40"/>
      <p:italic r:id="rId41"/>
      <p:boldItalic r:id="rId4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721FC2B-0410-CC4B-876D-7D10CC589F85}" v="3" dt="2026-04-15T05:54:29.59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565"/>
    <p:restoredTop sz="94414"/>
  </p:normalViewPr>
  <p:slideViewPr>
    <p:cSldViewPr snapToGrid="0" snapToObjects="1">
      <p:cViewPr varScale="1">
        <p:scale>
          <a:sx n="119" d="100"/>
          <a:sy n="119" d="100"/>
        </p:scale>
        <p:origin x="174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5.fntdata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42" Type="http://schemas.openxmlformats.org/officeDocument/2006/relationships/font" Target="fonts/font8.fntdata"/><Relationship Id="rId47" Type="http://schemas.microsoft.com/office/2016/11/relationships/changesInfo" Target="changesInfos/changesInfo1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3.fntdata"/><Relationship Id="rId40" Type="http://schemas.openxmlformats.org/officeDocument/2006/relationships/font" Target="fonts/font6.fntdata"/><Relationship Id="rId45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2.fntdata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font" Target="fonts/font1.fntdata"/><Relationship Id="rId43" Type="http://schemas.openxmlformats.org/officeDocument/2006/relationships/presProps" Target="presProps.xml"/><Relationship Id="rId48" Type="http://schemas.microsoft.com/office/2015/10/relationships/revisionInfo" Target="revisionInfo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font" Target="fonts/font4.fntdata"/><Relationship Id="rId46" Type="http://schemas.openxmlformats.org/officeDocument/2006/relationships/tableStyles" Target="tableStyles.xml"/><Relationship Id="rId20" Type="http://schemas.openxmlformats.org/officeDocument/2006/relationships/slide" Target="slides/slide16.xml"/><Relationship Id="rId41" Type="http://schemas.openxmlformats.org/officeDocument/2006/relationships/font" Target="fonts/font7.fntdata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iccardo Berta" userId="c8694f89-bba4-4576-b0a8-456619ca5a8c" providerId="ADAL" clId="{FDDBFC5A-5EA9-5330-BEB8-433D7E3B4C4E}"/>
    <pc:docChg chg="custSel addSld delSld modSld">
      <pc:chgData name="Riccardo Berta" userId="c8694f89-bba4-4576-b0a8-456619ca5a8c" providerId="ADAL" clId="{FDDBFC5A-5EA9-5330-BEB8-433D7E3B4C4E}" dt="2026-04-15T13:37:26.050" v="92" actId="2696"/>
      <pc:docMkLst>
        <pc:docMk/>
      </pc:docMkLst>
      <pc:sldChg chg="modSp mod">
        <pc:chgData name="Riccardo Berta" userId="c8694f89-bba4-4576-b0a8-456619ca5a8c" providerId="ADAL" clId="{FDDBFC5A-5EA9-5330-BEB8-433D7E3B4C4E}" dt="2026-04-10T05:30:10.280" v="3" actId="20577"/>
        <pc:sldMkLst>
          <pc:docMk/>
          <pc:sldMk cId="0" sldId="263"/>
        </pc:sldMkLst>
        <pc:spChg chg="mod">
          <ac:chgData name="Riccardo Berta" userId="c8694f89-bba4-4576-b0a8-456619ca5a8c" providerId="ADAL" clId="{FDDBFC5A-5EA9-5330-BEB8-433D7E3B4C4E}" dt="2026-04-10T05:30:10.280" v="3" actId="20577"/>
          <ac:spMkLst>
            <pc:docMk/>
            <pc:sldMk cId="0" sldId="263"/>
            <ac:spMk id="128" creationId="{00000000-0000-0000-0000-000000000000}"/>
          </ac:spMkLst>
        </pc:spChg>
      </pc:sldChg>
      <pc:sldChg chg="modSp mod">
        <pc:chgData name="Riccardo Berta" userId="c8694f89-bba4-4576-b0a8-456619ca5a8c" providerId="ADAL" clId="{FDDBFC5A-5EA9-5330-BEB8-433D7E3B4C4E}" dt="2026-04-15T12:38:09.332" v="88" actId="20577"/>
        <pc:sldMkLst>
          <pc:docMk/>
          <pc:sldMk cId="0" sldId="265"/>
        </pc:sldMkLst>
        <pc:spChg chg="mod">
          <ac:chgData name="Riccardo Berta" userId="c8694f89-bba4-4576-b0a8-456619ca5a8c" providerId="ADAL" clId="{FDDBFC5A-5EA9-5330-BEB8-433D7E3B4C4E}" dt="2026-04-15T12:38:09.332" v="88" actId="20577"/>
          <ac:spMkLst>
            <pc:docMk/>
            <pc:sldMk cId="0" sldId="265"/>
            <ac:spMk id="142" creationId="{00000000-0000-0000-0000-000000000000}"/>
          </ac:spMkLst>
        </pc:spChg>
      </pc:sldChg>
      <pc:sldChg chg="delSp mod">
        <pc:chgData name="Riccardo Berta" userId="c8694f89-bba4-4576-b0a8-456619ca5a8c" providerId="ADAL" clId="{FDDBFC5A-5EA9-5330-BEB8-433D7E3B4C4E}" dt="2026-04-15T05:44:29.034" v="14" actId="478"/>
        <pc:sldMkLst>
          <pc:docMk/>
          <pc:sldMk cId="0" sldId="268"/>
        </pc:sldMkLst>
        <pc:picChg chg="del">
          <ac:chgData name="Riccardo Berta" userId="c8694f89-bba4-4576-b0a8-456619ca5a8c" providerId="ADAL" clId="{FDDBFC5A-5EA9-5330-BEB8-433D7E3B4C4E}" dt="2026-04-15T05:44:29.034" v="14" actId="478"/>
          <ac:picMkLst>
            <pc:docMk/>
            <pc:sldMk cId="0" sldId="268"/>
            <ac:picMk id="164" creationId="{00000000-0000-0000-0000-000000000000}"/>
          </ac:picMkLst>
        </pc:picChg>
      </pc:sldChg>
      <pc:sldChg chg="delSp modSp mod">
        <pc:chgData name="Riccardo Berta" userId="c8694f89-bba4-4576-b0a8-456619ca5a8c" providerId="ADAL" clId="{FDDBFC5A-5EA9-5330-BEB8-433D7E3B4C4E}" dt="2026-04-15T05:48:54.187" v="31" actId="20577"/>
        <pc:sldMkLst>
          <pc:docMk/>
          <pc:sldMk cId="0" sldId="269"/>
        </pc:sldMkLst>
        <pc:spChg chg="mod">
          <ac:chgData name="Riccardo Berta" userId="c8694f89-bba4-4576-b0a8-456619ca5a8c" providerId="ADAL" clId="{FDDBFC5A-5EA9-5330-BEB8-433D7E3B4C4E}" dt="2026-04-15T05:48:54.187" v="31" actId="20577"/>
          <ac:spMkLst>
            <pc:docMk/>
            <pc:sldMk cId="0" sldId="269"/>
            <ac:spMk id="170" creationId="{00000000-0000-0000-0000-000000000000}"/>
          </ac:spMkLst>
        </pc:spChg>
        <pc:picChg chg="del">
          <ac:chgData name="Riccardo Berta" userId="c8694f89-bba4-4576-b0a8-456619ca5a8c" providerId="ADAL" clId="{FDDBFC5A-5EA9-5330-BEB8-433D7E3B4C4E}" dt="2026-04-15T05:45:02.473" v="15" actId="478"/>
          <ac:picMkLst>
            <pc:docMk/>
            <pc:sldMk cId="0" sldId="269"/>
            <ac:picMk id="173" creationId="{00000000-0000-0000-0000-000000000000}"/>
          </ac:picMkLst>
        </pc:picChg>
      </pc:sldChg>
      <pc:sldChg chg="addSp modSp mod">
        <pc:chgData name="Riccardo Berta" userId="c8694f89-bba4-4576-b0a8-456619ca5a8c" providerId="ADAL" clId="{FDDBFC5A-5EA9-5330-BEB8-433D7E3B4C4E}" dt="2026-04-15T05:55:41.864" v="82" actId="20577"/>
        <pc:sldMkLst>
          <pc:docMk/>
          <pc:sldMk cId="0" sldId="273"/>
        </pc:sldMkLst>
        <pc:spChg chg="add mod">
          <ac:chgData name="Riccardo Berta" userId="c8694f89-bba4-4576-b0a8-456619ca5a8c" providerId="ADAL" clId="{FDDBFC5A-5EA9-5330-BEB8-433D7E3B4C4E}" dt="2026-04-15T05:55:41.864" v="82" actId="20577"/>
          <ac:spMkLst>
            <pc:docMk/>
            <pc:sldMk cId="0" sldId="273"/>
            <ac:spMk id="3" creationId="{ED1F4048-CBE4-17A9-ECDF-2A16E63ECE27}"/>
          </ac:spMkLst>
        </pc:spChg>
        <pc:spChg chg="mod">
          <ac:chgData name="Riccardo Berta" userId="c8694f89-bba4-4576-b0a8-456619ca5a8c" providerId="ADAL" clId="{FDDBFC5A-5EA9-5330-BEB8-433D7E3B4C4E}" dt="2026-04-15T05:54:28.166" v="33"/>
          <ac:spMkLst>
            <pc:docMk/>
            <pc:sldMk cId="0" sldId="273"/>
            <ac:spMk id="200" creationId="{00000000-0000-0000-0000-000000000000}"/>
          </ac:spMkLst>
        </pc:spChg>
      </pc:sldChg>
      <pc:sldChg chg="modSp mod">
        <pc:chgData name="Riccardo Berta" userId="c8694f89-bba4-4576-b0a8-456619ca5a8c" providerId="ADAL" clId="{FDDBFC5A-5EA9-5330-BEB8-433D7E3B4C4E}" dt="2026-04-10T05:26:47.007" v="0" actId="20577"/>
        <pc:sldMkLst>
          <pc:docMk/>
          <pc:sldMk cId="0" sldId="276"/>
        </pc:sldMkLst>
        <pc:spChg chg="mod">
          <ac:chgData name="Riccardo Berta" userId="c8694f89-bba4-4576-b0a8-456619ca5a8c" providerId="ADAL" clId="{FDDBFC5A-5EA9-5330-BEB8-433D7E3B4C4E}" dt="2026-04-10T05:26:47.007" v="0" actId="20577"/>
          <ac:spMkLst>
            <pc:docMk/>
            <pc:sldMk cId="0" sldId="276"/>
            <ac:spMk id="220" creationId="{00000000-0000-0000-0000-000000000000}"/>
          </ac:spMkLst>
        </pc:spChg>
      </pc:sldChg>
      <pc:sldChg chg="modSp mod">
        <pc:chgData name="Riccardo Berta" userId="c8694f89-bba4-4576-b0a8-456619ca5a8c" providerId="ADAL" clId="{FDDBFC5A-5EA9-5330-BEB8-433D7E3B4C4E}" dt="2026-04-10T05:37:51.050" v="4" actId="20577"/>
        <pc:sldMkLst>
          <pc:docMk/>
          <pc:sldMk cId="179800585" sldId="281"/>
        </pc:sldMkLst>
        <pc:spChg chg="mod">
          <ac:chgData name="Riccardo Berta" userId="c8694f89-bba4-4576-b0a8-456619ca5a8c" providerId="ADAL" clId="{FDDBFC5A-5EA9-5330-BEB8-433D7E3B4C4E}" dt="2026-04-10T05:37:51.050" v="4" actId="20577"/>
          <ac:spMkLst>
            <pc:docMk/>
            <pc:sldMk cId="179800585" sldId="281"/>
            <ac:spMk id="135" creationId="{2248243C-A928-5BF5-4EE1-E4A3F24EF0D9}"/>
          </ac:spMkLst>
        </pc:spChg>
      </pc:sldChg>
      <pc:sldChg chg="modSp mod">
        <pc:chgData name="Riccardo Berta" userId="c8694f89-bba4-4576-b0a8-456619ca5a8c" providerId="ADAL" clId="{FDDBFC5A-5EA9-5330-BEB8-433D7E3B4C4E}" dt="2026-04-15T05:58:46.562" v="83" actId="20577"/>
        <pc:sldMkLst>
          <pc:docMk/>
          <pc:sldMk cId="264790446" sldId="285"/>
        </pc:sldMkLst>
        <pc:spChg chg="mod">
          <ac:chgData name="Riccardo Berta" userId="c8694f89-bba4-4576-b0a8-456619ca5a8c" providerId="ADAL" clId="{FDDBFC5A-5EA9-5330-BEB8-433D7E3B4C4E}" dt="2026-04-15T05:58:46.562" v="83" actId="20577"/>
          <ac:spMkLst>
            <pc:docMk/>
            <pc:sldMk cId="264790446" sldId="285"/>
            <ac:spMk id="227" creationId="{7F003B01-656F-1311-C537-549760D2ED2C}"/>
          </ac:spMkLst>
        </pc:spChg>
      </pc:sldChg>
      <pc:sldChg chg="modSp mod">
        <pc:chgData name="Riccardo Berta" userId="c8694f89-bba4-4576-b0a8-456619ca5a8c" providerId="ADAL" clId="{FDDBFC5A-5EA9-5330-BEB8-433D7E3B4C4E}" dt="2026-04-15T05:59:53.389" v="86" actId="20577"/>
        <pc:sldMkLst>
          <pc:docMk/>
          <pc:sldMk cId="755255463" sldId="286"/>
        </pc:sldMkLst>
        <pc:spChg chg="mod">
          <ac:chgData name="Riccardo Berta" userId="c8694f89-bba4-4576-b0a8-456619ca5a8c" providerId="ADAL" clId="{FDDBFC5A-5EA9-5330-BEB8-433D7E3B4C4E}" dt="2026-04-15T05:59:53.389" v="86" actId="20577"/>
          <ac:spMkLst>
            <pc:docMk/>
            <pc:sldMk cId="755255463" sldId="286"/>
            <ac:spMk id="234" creationId="{EE072F69-7826-CB32-3EC0-E460C181291D}"/>
          </ac:spMkLst>
        </pc:spChg>
      </pc:sldChg>
      <pc:sldChg chg="delSp new del mod">
        <pc:chgData name="Riccardo Berta" userId="c8694f89-bba4-4576-b0a8-456619ca5a8c" providerId="ADAL" clId="{FDDBFC5A-5EA9-5330-BEB8-433D7E3B4C4E}" dt="2026-04-15T13:37:26.050" v="92" actId="2696"/>
        <pc:sldMkLst>
          <pc:docMk/>
          <pc:sldMk cId="1990312382" sldId="287"/>
        </pc:sldMkLst>
        <pc:spChg chg="del">
          <ac:chgData name="Riccardo Berta" userId="c8694f89-bba4-4576-b0a8-456619ca5a8c" providerId="ADAL" clId="{FDDBFC5A-5EA9-5330-BEB8-433D7E3B4C4E}" dt="2026-04-15T13:33:11.132" v="90" actId="478"/>
          <ac:spMkLst>
            <pc:docMk/>
            <pc:sldMk cId="1990312382" sldId="287"/>
            <ac:spMk id="2" creationId="{2B183603-8701-5D3C-091B-630495F992C5}"/>
          </ac:spMkLst>
        </pc:spChg>
        <pc:spChg chg="del">
          <ac:chgData name="Riccardo Berta" userId="c8694f89-bba4-4576-b0a8-456619ca5a8c" providerId="ADAL" clId="{FDDBFC5A-5EA9-5330-BEB8-433D7E3B4C4E}" dt="2026-04-15T13:33:12.824" v="91" actId="478"/>
          <ac:spMkLst>
            <pc:docMk/>
            <pc:sldMk cId="1990312382" sldId="287"/>
            <ac:spMk id="3" creationId="{8D7195DD-950E-9DDC-C576-B2D5B591FE3A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309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100"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 sz="1100"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51e8b6b6fd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51e8b6b6fd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f0fb49ddf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f0fb49ddf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5485ebd821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5485ebd821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51e8b6b6fd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51e8b6b6fd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51e8b6b6fd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51e8b6b6fd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51e8b6b6fd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51e8b6b6fd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51e8b6b6fd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9" name="Google Shape;119;g51e8b6b6fd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51e8b6b6fd_0_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51e8b6b6fd_0_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f0fb49ddf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f0fb49ddf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80847485-E4BA-1514-7160-C93D05035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f0fb49ddf_0_11:notes">
            <a:extLst>
              <a:ext uri="{FF2B5EF4-FFF2-40B4-BE49-F238E27FC236}">
                <a16:creationId xmlns:a16="http://schemas.microsoft.com/office/drawing/2014/main" id="{0A4C643A-1ED6-DF6F-6C87-4F45FF5EEE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f0fb49ddf_0_11:notes">
            <a:extLst>
              <a:ext uri="{FF2B5EF4-FFF2-40B4-BE49-F238E27FC236}">
                <a16:creationId xmlns:a16="http://schemas.microsoft.com/office/drawing/2014/main" id="{F7961FAA-85F9-9E4F-7FD8-9160CC9D7E9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236809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>
          <a:extLst>
            <a:ext uri="{FF2B5EF4-FFF2-40B4-BE49-F238E27FC236}">
              <a16:creationId xmlns:a16="http://schemas.microsoft.com/office/drawing/2014/main" id="{2EBB34F3-4B03-4A9E-3D13-243D7FF436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f0fb49ddf_0_11:notes">
            <a:extLst>
              <a:ext uri="{FF2B5EF4-FFF2-40B4-BE49-F238E27FC236}">
                <a16:creationId xmlns:a16="http://schemas.microsoft.com/office/drawing/2014/main" id="{6F734885-2BA0-44E7-730D-E6683B91059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f0fb49ddf_0_11:notes">
            <a:extLst>
              <a:ext uri="{FF2B5EF4-FFF2-40B4-BE49-F238E27FC236}">
                <a16:creationId xmlns:a16="http://schemas.microsoft.com/office/drawing/2014/main" id="{A7719AA1-22A5-1026-1206-5D6A61F52E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536690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51e8b6b6fd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51e8b6b6fd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>
          <a:extLst>
            <a:ext uri="{FF2B5EF4-FFF2-40B4-BE49-F238E27FC236}">
              <a16:creationId xmlns:a16="http://schemas.microsoft.com/office/drawing/2014/main" id="{F167DBF7-35A6-666B-3199-D8582AB7E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51e8b6b6fd_0_22:notes">
            <a:extLst>
              <a:ext uri="{FF2B5EF4-FFF2-40B4-BE49-F238E27FC236}">
                <a16:creationId xmlns:a16="http://schemas.microsoft.com/office/drawing/2014/main" id="{680A8F17-214B-7405-B943-D4B01420B2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51e8b6b6fd_0_22:notes">
            <a:extLst>
              <a:ext uri="{FF2B5EF4-FFF2-40B4-BE49-F238E27FC236}">
                <a16:creationId xmlns:a16="http://schemas.microsoft.com/office/drawing/2014/main" id="{8CF0BC4C-CCEB-3B38-BC29-AAFFAAE59D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920527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f108eba5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f108eba5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51e8b6b6fd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51e8b6b6fd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0fb49ddf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0fb49ddf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>
          <a:extLst>
            <a:ext uri="{FF2B5EF4-FFF2-40B4-BE49-F238E27FC236}">
              <a16:creationId xmlns:a16="http://schemas.microsoft.com/office/drawing/2014/main" id="{F5A0EB82-9A15-C9B1-3B54-1A78B38331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0fb49ddf_0_17:notes">
            <a:extLst>
              <a:ext uri="{FF2B5EF4-FFF2-40B4-BE49-F238E27FC236}">
                <a16:creationId xmlns:a16="http://schemas.microsoft.com/office/drawing/2014/main" id="{E1592840-25FF-77DE-DE2C-39C773E052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0fb49ddf_0_17:notes">
            <a:extLst>
              <a:ext uri="{FF2B5EF4-FFF2-40B4-BE49-F238E27FC236}">
                <a16:creationId xmlns:a16="http://schemas.microsoft.com/office/drawing/2014/main" id="{6184B70B-D169-FD36-441C-3BBC269FD7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784324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f0fb49ddf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f0fb49ddf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f108eba57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f108eba57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71d078de45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71d078de45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71d078de45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71d078de45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f11a86ee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f11a86ee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51e8b6b6fd_0_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51e8b6b6fd_0_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>
          <a:extLst>
            <a:ext uri="{FF2B5EF4-FFF2-40B4-BE49-F238E27FC236}">
              <a16:creationId xmlns:a16="http://schemas.microsoft.com/office/drawing/2014/main" id="{D55DB04F-48D3-B73C-DE55-883AA9DD0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51e8b6b6fd_0_90:notes">
            <a:extLst>
              <a:ext uri="{FF2B5EF4-FFF2-40B4-BE49-F238E27FC236}">
                <a16:creationId xmlns:a16="http://schemas.microsoft.com/office/drawing/2014/main" id="{14B11C3A-A793-57B6-4EF6-CA029911D36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51e8b6b6fd_0_90:notes">
            <a:extLst>
              <a:ext uri="{FF2B5EF4-FFF2-40B4-BE49-F238E27FC236}">
                <a16:creationId xmlns:a16="http://schemas.microsoft.com/office/drawing/2014/main" id="{DE8D8570-5F8C-8DE1-4DCC-71B1A138EF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3523332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>
          <a:extLst>
            <a:ext uri="{FF2B5EF4-FFF2-40B4-BE49-F238E27FC236}">
              <a16:creationId xmlns:a16="http://schemas.microsoft.com/office/drawing/2014/main" id="{F7BDA6FC-9DAD-4390-2BFF-324BBCC90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51e8b6b6fd_0_90:notes">
            <a:extLst>
              <a:ext uri="{FF2B5EF4-FFF2-40B4-BE49-F238E27FC236}">
                <a16:creationId xmlns:a16="http://schemas.microsoft.com/office/drawing/2014/main" id="{8B3F7092-9C83-DC0E-174F-20849D3BD8A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51e8b6b6fd_0_90:notes">
            <a:extLst>
              <a:ext uri="{FF2B5EF4-FFF2-40B4-BE49-F238E27FC236}">
                <a16:creationId xmlns:a16="http://schemas.microsoft.com/office/drawing/2014/main" id="{0C192155-0246-CA04-A6A0-08F305D6EC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8662671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51e8b6b6fd_0_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51e8b6b6fd_0_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>
          <a:extLst>
            <a:ext uri="{FF2B5EF4-FFF2-40B4-BE49-F238E27FC236}">
              <a16:creationId xmlns:a16="http://schemas.microsoft.com/office/drawing/2014/main" id="{0D603BE3-29F7-1B5B-920E-966D1C0A7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51e8b6b6fd_0_96:notes">
            <a:extLst>
              <a:ext uri="{FF2B5EF4-FFF2-40B4-BE49-F238E27FC236}">
                <a16:creationId xmlns:a16="http://schemas.microsoft.com/office/drawing/2014/main" id="{35B1EC3F-851C-4112-420F-641F66FBFA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51e8b6b6fd_0_96:notes">
            <a:extLst>
              <a:ext uri="{FF2B5EF4-FFF2-40B4-BE49-F238E27FC236}">
                <a16:creationId xmlns:a16="http://schemas.microsoft.com/office/drawing/2014/main" id="{8C8D96CD-7652-8569-AF23-F67F87C819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1510830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100d463d89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100d463d89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1008933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4355671"/>
            <a:ext cx="1081625" cy="1499896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925674"/>
            <a:ext cx="3054600" cy="2049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4155440"/>
            <a:ext cx="3054600" cy="9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RicTheme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 sz="1700"/>
            </a:lvl1pPr>
            <a:lvl2pPr marL="914400" lvl="1" indent="-323850">
              <a:spcBef>
                <a:spcPts val="1600"/>
              </a:spcBef>
              <a:spcAft>
                <a:spcPts val="0"/>
              </a:spcAft>
              <a:buSzPts val="1500"/>
              <a:buChar char="○"/>
              <a:defRPr sz="1500"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5pPr>
            <a:lvl6pPr marL="2743200" lvl="5" indent="-292100">
              <a:spcBef>
                <a:spcPts val="1600"/>
              </a:spcBef>
              <a:spcAft>
                <a:spcPts val="0"/>
              </a:spcAft>
              <a:buSzPts val="1000"/>
              <a:buChar char="■"/>
              <a:defRPr sz="1000"/>
            </a:lvl6pPr>
            <a:lvl7pPr marL="3200400" lvl="6" indent="-292100">
              <a:spcBef>
                <a:spcPts val="1600"/>
              </a:spcBef>
              <a:spcAft>
                <a:spcPts val="0"/>
              </a:spcAft>
              <a:buSzPts val="1000"/>
              <a:buChar char="●"/>
              <a:defRPr sz="1000"/>
            </a:lvl7pPr>
            <a:lvl8pPr marL="3657600" lvl="7" indent="-292100">
              <a:spcBef>
                <a:spcPts val="1600"/>
              </a:spcBef>
              <a:spcAft>
                <a:spcPts val="0"/>
              </a:spcAft>
              <a:buSzPts val="1000"/>
              <a:buChar char="○"/>
              <a:defRPr sz="1000"/>
            </a:lvl8pPr>
            <a:lvl9pPr marL="4114800" lvl="8" indent="-292100">
              <a:spcBef>
                <a:spcPts val="1600"/>
              </a:spcBef>
              <a:spcAft>
                <a:spcPts val="1600"/>
              </a:spcAft>
              <a:buSzPts val="1000"/>
              <a:buChar char="■"/>
              <a:defRPr sz="1000"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633633"/>
            <a:ext cx="3999900" cy="44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740800"/>
            <a:ext cx="2808000" cy="100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865867"/>
            <a:ext cx="2808000" cy="371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600200"/>
            <a:ext cx="5878800" cy="5454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33"/>
            <a:ext cx="4572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59940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1239033"/>
            <a:ext cx="4045200" cy="2381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3692001"/>
            <a:ext cx="4045200" cy="209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965600"/>
            <a:ext cx="3837000" cy="4926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5625233"/>
            <a:ext cx="5998800" cy="79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endParaRPr/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6727600"/>
            <a:ext cx="9144000" cy="130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276167"/>
            <a:ext cx="8520600" cy="283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4216000"/>
            <a:ext cx="8520600" cy="142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633633"/>
            <a:ext cx="8520600" cy="447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6217622"/>
            <a:ext cx="548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‹N›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magine 1" descr="Immagine che contiene diagramma, Piano, schermata&#10;&#10;Il contenuto generato dall'IA potrebbe non essere corretto.">
            <a:extLst>
              <a:ext uri="{FF2B5EF4-FFF2-40B4-BE49-F238E27FC236}">
                <a16:creationId xmlns:a16="http://schemas.microsoft.com/office/drawing/2014/main" id="{65E29F25-A3A9-20CE-45FA-4D5FE0545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3345" y="167003"/>
            <a:ext cx="3533655" cy="1624730"/>
          </a:xfrm>
          <a:prstGeom prst="rect">
            <a:avLst/>
          </a:prstGeom>
        </p:spPr>
      </p:pic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3044700" y="2754751"/>
            <a:ext cx="3054600" cy="983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JavaScript</a:t>
            </a:r>
            <a:endParaRPr dirty="0"/>
          </a:p>
        </p:txBody>
      </p:sp>
      <p:sp>
        <p:nvSpPr>
          <p:cNvPr id="78" name="Google Shape;78;p13"/>
          <p:cNvSpPr/>
          <p:nvPr/>
        </p:nvSpPr>
        <p:spPr>
          <a:xfrm>
            <a:off x="6146800" y="609600"/>
            <a:ext cx="1574799" cy="762000"/>
          </a:xfrm>
          <a:prstGeom prst="ellipse">
            <a:avLst/>
          </a:prstGeom>
          <a:noFill/>
          <a:ln w="285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Introduction</a:t>
            </a:r>
            <a:endParaRPr/>
          </a:p>
        </p:txBody>
      </p:sp>
      <p:sp>
        <p:nvSpPr>
          <p:cNvPr id="84" name="Google Shape;84;p14"/>
          <p:cNvSpPr txBox="1">
            <a:spLocks noGrp="1"/>
          </p:cNvSpPr>
          <p:nvPr>
            <p:ph type="body" idx="1"/>
          </p:nvPr>
        </p:nvSpPr>
        <p:spPr>
          <a:xfrm>
            <a:off x="202700" y="951949"/>
            <a:ext cx="8818500" cy="55794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Introduced in 1995 to add programs to web in Netscape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Adopted by all major browsers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ECMA standard</a:t>
            </a:r>
            <a:endParaRPr b="1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Nothing to do with Java (just marketing consideration a that time)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What you know is still valid: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Comments</a:t>
            </a:r>
            <a:endParaRPr dirty="0"/>
          </a:p>
          <a:p>
            <a:pPr marL="1371600" lvl="2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//…</a:t>
            </a:r>
            <a:endParaRPr sz="12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Block of code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{ … }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Conditional execution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if, if...else, switch...case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Loops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while, do...while, for, for-in</a:t>
            </a:r>
            <a:endParaRPr dirty="0"/>
          </a:p>
          <a:p>
            <a:pPr marL="1828800" lvl="3" indent="-304800" algn="l" rtl="0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while(number&lt;=12) { </a:t>
            </a:r>
            <a:r>
              <a:rPr lang="en-GB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(number); number++; }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700" dirty="0"/>
              <a:t>Fragment of code that produce a value is called an </a:t>
            </a:r>
            <a:r>
              <a:rPr lang="en-GB" sz="1700" b="1" dirty="0"/>
              <a:t>expression</a:t>
            </a:r>
            <a:endParaRPr sz="1700" b="1" dirty="0"/>
          </a:p>
          <a:p>
            <a:pPr marL="914400" lvl="1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-GB" sz="1700" dirty="0"/>
              <a:t>A </a:t>
            </a:r>
            <a:r>
              <a:rPr lang="en-GB" sz="1700" b="1" dirty="0"/>
              <a:t>statement</a:t>
            </a:r>
            <a:r>
              <a:rPr lang="en-GB" sz="1700" dirty="0"/>
              <a:t> is a composition of expressions and ends with ;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Variables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Functions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sz="800" dirty="0"/>
          </a:p>
          <a:p>
            <a:pPr indent="-323850">
              <a:buSzPts val="1500"/>
              <a:buChar char="○"/>
            </a:pPr>
            <a:r>
              <a:rPr lang="en-GB" dirty="0"/>
              <a:t>We can use the browser to run JS code</a:t>
            </a:r>
            <a:endParaRPr dirty="0"/>
          </a:p>
          <a:p>
            <a:pPr marL="12065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Variables and functions</a:t>
            </a:r>
            <a:endParaRPr/>
          </a:p>
        </p:txBody>
      </p:sp>
      <p:sp>
        <p:nvSpPr>
          <p:cNvPr id="93" name="Google Shape;93;p15"/>
          <p:cNvSpPr txBox="1">
            <a:spLocks noGrp="1"/>
          </p:cNvSpPr>
          <p:nvPr>
            <p:ph type="body" idx="1"/>
          </p:nvPr>
        </p:nvSpPr>
        <p:spPr>
          <a:xfrm>
            <a:off x="162750" y="1076950"/>
            <a:ext cx="8818500" cy="554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500" dirty="0"/>
              <a:t>In several cases the </a:t>
            </a:r>
            <a:r>
              <a:rPr lang="en-GB" sz="1500" b="1" dirty="0"/>
              <a:t>; </a:t>
            </a:r>
            <a:r>
              <a:rPr lang="en-GB" sz="1500" dirty="0"/>
              <a:t>can be omitted</a:t>
            </a:r>
            <a:endParaRPr sz="15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 dirty="0"/>
              <a:t>Rules are complex and error prone</a:t>
            </a:r>
            <a:r>
              <a:rPr lang="en-GB" dirty="0"/>
              <a:t>…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Dynamically-typed language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No type declaration!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name = value; </a:t>
            </a:r>
            <a:r>
              <a:rPr lang="en-GB" dirty="0"/>
              <a:t>(also “var” or “</a:t>
            </a:r>
            <a:r>
              <a:rPr lang="en-GB" dirty="0" err="1"/>
              <a:t>const</a:t>
            </a:r>
            <a:r>
              <a:rPr lang="en-GB" dirty="0"/>
              <a:t>” …)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The value's type is </a:t>
            </a:r>
            <a:r>
              <a:rPr lang="en-GB" b="1" dirty="0"/>
              <a:t>enforced</a:t>
            </a:r>
            <a:r>
              <a:rPr lang="en-GB" dirty="0"/>
              <a:t>, but the variable simply represents any value of any type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x = '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pippo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'; x=5;</a:t>
            </a: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Automatic type conversion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several time difficult to understand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('5' - 1);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('5' + 1);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('5' * 2);</a:t>
            </a:r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Functions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They are </a:t>
            </a:r>
            <a:r>
              <a:rPr lang="en-GB" b="1" dirty="0"/>
              <a:t>just regular variables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name = function(parameters) { body;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square = function(x) { return x * x;  };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Can be used in any expression</a:t>
            </a:r>
            <a:r>
              <a:rPr lang="en-GB" dirty="0"/>
              <a:t>, and </a:t>
            </a:r>
            <a:r>
              <a:rPr lang="en-GB" b="1" dirty="0"/>
              <a:t>can be assigned to a new value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Nested scope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can be </a:t>
            </a:r>
            <a:r>
              <a:rPr lang="en-GB" b="1" dirty="0"/>
              <a:t>created inside</a:t>
            </a:r>
            <a:r>
              <a:rPr lang="en-GB" dirty="0"/>
              <a:t> other functions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Short notation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name(parameters) {  body; 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Lambda and Arrow Functions</a:t>
            </a:r>
            <a:endParaRPr/>
          </a:p>
        </p:txBody>
      </p:sp>
      <p:sp>
        <p:nvSpPr>
          <p:cNvPr id="220" name="Google Shape;220;p33"/>
          <p:cNvSpPr txBox="1">
            <a:spLocks noGrp="1"/>
          </p:cNvSpPr>
          <p:nvPr>
            <p:ph type="body" idx="1"/>
          </p:nvPr>
        </p:nvSpPr>
        <p:spPr>
          <a:xfrm>
            <a:off x="228826" y="1252396"/>
            <a:ext cx="8818500" cy="506410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Expressions that create functions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Really important for programming languages that support first-class functions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 JavaScript pre-ES6 we have only </a:t>
            </a:r>
            <a:r>
              <a:rPr lang="en-GB" b="1" dirty="0"/>
              <a:t>anonymous functions</a:t>
            </a:r>
            <a:r>
              <a:rPr lang="en-GB" dirty="0"/>
              <a:t> 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Functions without a name</a:t>
            </a:r>
            <a:endParaRPr lang="en-GB" sz="1700"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anon = function (a, b) { return a + b };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ES6 introduces </a:t>
            </a:r>
            <a:r>
              <a:rPr lang="en-GB" b="1" dirty="0"/>
              <a:t>lambda (or arrow) functions</a:t>
            </a:r>
            <a:r>
              <a:rPr lang="en-GB" dirty="0"/>
              <a:t> with a more flexible syntax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anon = (a, b) =&gt; a + b;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anon = (a, b) =&gt; { return a + b };</a:t>
            </a: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it-IT"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 general: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there are 0 parameters, arrow functions use empty parenthesis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=&gt; { statements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there is 1 parameter, arrow functions can omit the parenthesis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parameter =&gt; { statements }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there are 2+ parameters, parameters go inside parenthesis</a:t>
            </a:r>
            <a:endParaRPr dirty="0"/>
          </a:p>
          <a:p>
            <a: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(param1, param2, ...) =&gt; { statements }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Equality</a:t>
            </a:r>
            <a:endParaRPr dirty="0"/>
          </a:p>
        </p:txBody>
      </p:sp>
      <p:sp>
        <p:nvSpPr>
          <p:cNvPr id="101" name="Google Shape;101;p16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487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Strict</a:t>
            </a:r>
            <a:r>
              <a:rPr lang="en-GB" dirty="0"/>
              <a:t> equality “</a:t>
            </a:r>
            <a:r>
              <a:rPr lang="en-GB" b="1" dirty="0"/>
              <a:t>===</a:t>
            </a:r>
            <a:r>
              <a:rPr lang="en-GB" dirty="0"/>
              <a:t>”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Both the type and the value we are comparing have to be the same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5 === 5 // true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'hello world' === 'hello world' // true (both Strings, equal values)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77 === '77' // false (number vs. string)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false === 0 // false (different type and different value)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600" dirty="0"/>
          </a:p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Loose</a:t>
            </a:r>
            <a:r>
              <a:rPr lang="en-GB" dirty="0"/>
              <a:t> equality “</a:t>
            </a:r>
            <a:r>
              <a:rPr lang="en-GB" b="1" dirty="0"/>
              <a:t>==</a:t>
            </a:r>
            <a:r>
              <a:rPr lang="en-GB" dirty="0"/>
              <a:t>”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Double equals also performs type </a:t>
            </a:r>
            <a:r>
              <a:rPr lang="en-GB" b="1" dirty="0"/>
              <a:t>coercion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Values are compared after attempting to convert them into a common type!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77 == '77' // true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false == 0 // true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600" dirty="0"/>
          </a:p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Triple Equals is superior to double equals!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Whenever possible, you should use === to test equality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By testing type and value you can be sure that you are executing a true equality test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Const, let and var</a:t>
            </a:r>
            <a:endParaRPr/>
          </a:p>
        </p:txBody>
      </p:sp>
      <p:sp>
        <p:nvSpPr>
          <p:cNvPr id="108" name="Google Shape;108;p17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429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var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Before ES6, just var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Variables assigned with the var keyword have </a:t>
            </a:r>
            <a:r>
              <a:rPr lang="en-GB" b="1" dirty="0"/>
              <a:t>functional scope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They </a:t>
            </a:r>
            <a:r>
              <a:rPr lang="en-GB" b="1" dirty="0"/>
              <a:t>aren’t block scoped</a:t>
            </a:r>
            <a:r>
              <a:rPr lang="en-GB" dirty="0"/>
              <a:t>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that’s where things can get messy 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you can reassign variables within a block overriding parent assignments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Global variables, assigned to the global window object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Hoisted</a:t>
            </a:r>
            <a:r>
              <a:rPr lang="en-GB" dirty="0"/>
              <a:t> (can be declared after it has been used!)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let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Block scoped!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Not global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 err="1"/>
              <a:t>const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Read-only</a:t>
            </a:r>
            <a:r>
              <a:rPr lang="en-GB" dirty="0"/>
              <a:t> and </a:t>
            </a:r>
            <a:r>
              <a:rPr lang="en-GB" b="1" dirty="0"/>
              <a:t>cannot’ be redeclared or reassigned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Not global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Not hoisted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 almost all cases, </a:t>
            </a:r>
            <a:r>
              <a:rPr lang="en-GB" u="sng" dirty="0"/>
              <a:t>opt for </a:t>
            </a:r>
            <a:r>
              <a:rPr lang="en-GB" u="sng" dirty="0" err="1"/>
              <a:t>const</a:t>
            </a:r>
            <a:r>
              <a:rPr lang="en-GB" u="sng" dirty="0"/>
              <a:t> first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assignments are read-only, we avoid potential future issues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Only use the let when you know that a variable will have a dynamic value 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it-IT" dirty="0" err="1"/>
              <a:t>We</a:t>
            </a:r>
            <a:r>
              <a:rPr lang="en-GB" dirty="0"/>
              <a:t> probably don’t need to use var anymore!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Array</a:t>
            </a:r>
            <a:endParaRPr/>
          </a:p>
        </p:txBody>
      </p:sp>
      <p:sp>
        <p:nvSpPr>
          <p:cNvPr id="115" name="Google Shape;115;p18"/>
          <p:cNvSpPr txBox="1">
            <a:spLocks noGrp="1"/>
          </p:cNvSpPr>
          <p:nvPr>
            <p:ph type="body" idx="1"/>
          </p:nvPr>
        </p:nvSpPr>
        <p:spPr>
          <a:xfrm>
            <a:off x="216000" y="1031007"/>
            <a:ext cx="8818500" cy="55352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Store multiple values in a single variable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listOfNumbers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[2, 3, 5, 7, 11, 4];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listOfNumbers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[2]); //5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Properties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Expressions that access a feature of some value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listOfNumbers.length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 //6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Two way for accessing </a:t>
            </a:r>
            <a:r>
              <a:rPr lang="en-GB" b="1" dirty="0"/>
              <a:t>properties</a:t>
            </a:r>
            <a:r>
              <a:rPr lang="en-GB" dirty="0"/>
              <a:t> [ ] and .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value.x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GB" dirty="0"/>
              <a:t>x must be a valid property name</a:t>
            </a:r>
            <a:endParaRPr dirty="0"/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value[‘x’]</a:t>
            </a:r>
            <a:r>
              <a:rPr lang="en-GB" dirty="0"/>
              <a:t> x is evaluated to get the property name</a:t>
            </a:r>
            <a:endParaRPr dirty="0"/>
          </a:p>
          <a:p>
            <a:pPr marL="1828800" lvl="3" indent="-3048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-GB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en-GB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listOfNumbers</a:t>
            </a:r>
            <a:r>
              <a:rPr lang="en-GB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['length']);</a:t>
            </a:r>
            <a:endParaRPr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lang="en-GB" dirty="0"/>
              <a:t>elements in an array are stored in properties</a:t>
            </a:r>
          </a:p>
          <a:p>
            <a:pPr marL="1371600" lvl="2" indent="-317500" algn="l" rtl="0"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endParaRPr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Useful </a:t>
            </a:r>
            <a:r>
              <a:rPr lang="en-GB" b="1" dirty="0"/>
              <a:t>array properties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push()</a:t>
            </a:r>
            <a:r>
              <a:rPr lang="en-GB" dirty="0"/>
              <a:t> and </a:t>
            </a:r>
            <a:r>
              <a:rPr lang="en-GB" b="1" dirty="0"/>
              <a:t>pop()</a:t>
            </a:r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add and remove elements at the end of an array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unshift()</a:t>
            </a:r>
            <a:r>
              <a:rPr lang="en-GB" dirty="0"/>
              <a:t> and </a:t>
            </a:r>
            <a:r>
              <a:rPr lang="en-GB" b="1" dirty="0"/>
              <a:t>shift()</a:t>
            </a:r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add and remove element at the start of an array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 err="1"/>
              <a:t>indexOf</a:t>
            </a:r>
            <a:r>
              <a:rPr lang="en-GB" b="1" dirty="0"/>
              <a:t>()</a:t>
            </a:r>
            <a:r>
              <a:rPr lang="en-GB" dirty="0"/>
              <a:t> and </a:t>
            </a:r>
            <a:r>
              <a:rPr lang="en-GB" b="1" dirty="0" err="1"/>
              <a:t>lastIndexOf</a:t>
            </a:r>
            <a:r>
              <a:rPr lang="en-GB" b="1" dirty="0"/>
              <a:t>()</a:t>
            </a:r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search for an element from the start of from the back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b="1" dirty="0"/>
              <a:t>slice(start, end)</a:t>
            </a:r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get only the part of an array between the two indexes</a:t>
            </a: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9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Strings</a:t>
            </a:r>
            <a:endParaRPr/>
          </a:p>
        </p:txBody>
      </p:sp>
      <p:sp>
        <p:nvSpPr>
          <p:cNvPr id="122" name="Google Shape;122;p19"/>
          <p:cNvSpPr txBox="1">
            <a:spLocks noGrp="1"/>
          </p:cNvSpPr>
          <p:nvPr>
            <p:ph type="body" idx="1"/>
          </p:nvPr>
        </p:nvSpPr>
        <p:spPr>
          <a:xfrm>
            <a:off x="202700" y="1278527"/>
            <a:ext cx="8818500" cy="469555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 string is a text inside double or single quotes</a:t>
            </a:r>
            <a:endParaRPr dirty="0"/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let carName1 = "Volvo XC60"; </a:t>
            </a:r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let carName2 = 'Volvo XC60';</a:t>
            </a:r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endParaRPr sz="1000" dirty="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You can use quotes inside a string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as long as they don't match the quotes surrounding the string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answer1 = "It's alright"; 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answer2 = "He is called 'Johnny’”; 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answer3 = 'He is called "Johnny"';</a:t>
            </a: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700" dirty="0"/>
              <a:t>Useful properties</a:t>
            </a:r>
            <a:endParaRPr sz="17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 b="1" dirty="0"/>
              <a:t>length()</a:t>
            </a:r>
            <a:r>
              <a:rPr lang="en-GB" sz="1500" dirty="0"/>
              <a:t>, </a:t>
            </a:r>
            <a:r>
              <a:rPr lang="en-GB" sz="1500" b="1" dirty="0" err="1"/>
              <a:t>toUpperCase</a:t>
            </a:r>
            <a:r>
              <a:rPr lang="en-GB" sz="1500" b="1" dirty="0"/>
              <a:t>()</a:t>
            </a:r>
            <a:r>
              <a:rPr lang="en-GB" sz="1500" dirty="0"/>
              <a:t>, </a:t>
            </a:r>
            <a:r>
              <a:rPr lang="en-GB" sz="1500" b="1" dirty="0" err="1"/>
              <a:t>toLowerCase</a:t>
            </a:r>
            <a:r>
              <a:rPr lang="en-GB" sz="1500" b="1" dirty="0"/>
              <a:t>()</a:t>
            </a:r>
            <a:endParaRPr sz="1500"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 b="1" dirty="0"/>
              <a:t>slice()</a:t>
            </a:r>
            <a:r>
              <a:rPr lang="en-GB" sz="1500" dirty="0"/>
              <a:t>, </a:t>
            </a:r>
            <a:r>
              <a:rPr lang="en-GB" sz="1500" b="1" dirty="0" err="1"/>
              <a:t>indexOf</a:t>
            </a:r>
            <a:r>
              <a:rPr lang="en-GB" sz="1500" b="1" dirty="0"/>
              <a:t>()</a:t>
            </a:r>
            <a:r>
              <a:rPr lang="en-GB" sz="1500" dirty="0"/>
              <a:t>, </a:t>
            </a:r>
            <a:r>
              <a:rPr lang="en-GB" sz="1500" b="1" dirty="0" err="1"/>
              <a:t>charAt</a:t>
            </a:r>
            <a:r>
              <a:rPr lang="en-GB" sz="1500" b="1" dirty="0"/>
              <a:t>()</a:t>
            </a:r>
            <a:endParaRPr sz="1500"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500" b="1" dirty="0"/>
              <a:t>trim()</a:t>
            </a:r>
            <a:r>
              <a:rPr lang="en-GB" sz="1500" dirty="0"/>
              <a:t>, to remove whitespaces</a:t>
            </a:r>
            <a:endParaRPr sz="15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Compare string</a:t>
            </a:r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it-IT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let</a:t>
            </a:r>
            <a:r>
              <a:rPr lang="it-IT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 answer1 = "</a:t>
            </a:r>
            <a:r>
              <a:rPr lang="it-IT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It's</a:t>
            </a:r>
            <a:r>
              <a:rPr lang="it-IT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 </a:t>
            </a:r>
            <a:r>
              <a:rPr lang="it-IT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alright</a:t>
            </a:r>
            <a:r>
              <a:rPr lang="it-IT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";</a:t>
            </a:r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let answer2 = "It's alright";</a:t>
            </a:r>
          </a:p>
          <a:p>
            <a:pPr marL="914400" marR="0" lvl="1" indent="-3048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  <a:sym typeface="Courier New"/>
              </a:rPr>
              <a:t>(answer1 === answer2); // true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0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Pass-by-value or pass-by-reference?</a:t>
            </a:r>
            <a:endParaRPr/>
          </a:p>
        </p:txBody>
      </p:sp>
      <p:sp>
        <p:nvSpPr>
          <p:cNvPr id="128" name="Google Shape;128;p20"/>
          <p:cNvSpPr txBox="1">
            <a:spLocks noGrp="1"/>
          </p:cNvSpPr>
          <p:nvPr>
            <p:ph type="body" idx="1"/>
          </p:nvPr>
        </p:nvSpPr>
        <p:spPr>
          <a:xfrm>
            <a:off x="240325" y="959050"/>
            <a:ext cx="8818500" cy="547771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Pass-by-value strategy for primitives 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Call-by-sharing</a:t>
            </a:r>
            <a:r>
              <a:rPr lang="en-GB" dirty="0"/>
              <a:t> for arrays (and objects)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similar to pass-by-reference: the function is able to modify the array content 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isn’t able to assign directly over it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arrays (and objects) passed into functions are </a:t>
            </a:r>
            <a:r>
              <a:rPr lang="en-GB" b="1" dirty="0"/>
              <a:t>shared</a:t>
            </a:r>
            <a:r>
              <a:rPr lang="en-GB" dirty="0"/>
              <a:t>, but once the function decides to overwrite it, the sharing is off and the function only plays with its own version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Example:</a:t>
            </a:r>
          </a:p>
          <a:p>
            <a:pPr marL="12065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function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no_modify_primitives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(x){ x = 7; }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modify_array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(array){ array[0] = 7; }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no_modify_array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(array){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array = [3, 0, 2];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array[0] = 9;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GB"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x = 3;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no_modify_primitives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(x);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(x);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GB"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 = [3, 0, 2];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modify_array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(a);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(a);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GB"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no_modify_array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(a);</a:t>
            </a: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(a);</a:t>
            </a:r>
            <a:endParaRPr lang="en-GB"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Optional args and Recursion</a:t>
            </a:r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body" idx="1"/>
          </p:nvPr>
        </p:nvSpPr>
        <p:spPr>
          <a:xfrm>
            <a:off x="202700" y="1104349"/>
            <a:ext cx="8818500" cy="5531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JavaScript is </a:t>
            </a:r>
            <a:r>
              <a:rPr lang="en-GB" b="1" dirty="0"/>
              <a:t>extremely broad-minded</a:t>
            </a:r>
            <a:r>
              <a:rPr lang="en-GB" dirty="0"/>
              <a:t> about the number of arguments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you pass too many, </a:t>
            </a:r>
            <a:r>
              <a:rPr lang="en-GB" b="1" dirty="0"/>
              <a:t>the extra are ignored</a:t>
            </a:r>
            <a:r>
              <a:rPr lang="en-GB" dirty="0"/>
              <a:t>!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you pass too few, </a:t>
            </a:r>
            <a:r>
              <a:rPr lang="en-GB" b="1" dirty="0"/>
              <a:t>the missing are assigned to the undefined value</a:t>
            </a: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endParaRPr lang="en-GB" sz="800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Downside: accidentally use function incorrectly</a:t>
            </a: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Upside: have functions taking “optional parameters”</a:t>
            </a: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endParaRPr lang="en-GB" sz="800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Example:</a:t>
            </a:r>
          </a:p>
          <a:p>
            <a:pPr marL="133350" indent="0"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      function power(base, exponent) {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if(exponent == undefined) exponent = 2;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let result = 1;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for(let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=0;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&lt;exponent;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++) result *= base;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result;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(power(3,3));</a:t>
            </a: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(power(3));</a:t>
            </a:r>
            <a:br>
              <a:rPr lang="en-GB" sz="10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endParaRPr lang="en-GB" sz="1000" b="1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Recursion</a:t>
            </a:r>
            <a:endParaRPr lang="en-GB"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2065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     function power(base, exponent)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if(exponent == undefined) exponent = 2;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if(exponent == 0) return 1;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else return base * power(base, exponent - 1);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716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6742FC1A-EF03-8216-E062-502A93100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>
            <a:extLst>
              <a:ext uri="{FF2B5EF4-FFF2-40B4-BE49-F238E27FC236}">
                <a16:creationId xmlns:a16="http://schemas.microsoft.com/office/drawing/2014/main" id="{08412CA7-CAAE-81FD-DE26-576FDFDB5C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Error Handling</a:t>
            </a:r>
            <a:endParaRPr dirty="0"/>
          </a:p>
        </p:txBody>
      </p:sp>
      <p:sp>
        <p:nvSpPr>
          <p:cNvPr id="135" name="Google Shape;135;p21">
            <a:extLst>
              <a:ext uri="{FF2B5EF4-FFF2-40B4-BE49-F238E27FC236}">
                <a16:creationId xmlns:a16="http://schemas.microsoft.com/office/drawing/2014/main" id="{CB8A9CDA-8575-0814-9019-0C10352486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02700" y="1104349"/>
            <a:ext cx="8818500" cy="5531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Ensuring programs </a:t>
            </a:r>
            <a:r>
              <a:rPr lang="en-GB" b="1" dirty="0"/>
              <a:t>respond to unexpected situations </a:t>
            </a:r>
            <a:r>
              <a:rPr lang="en-GB" dirty="0"/>
              <a:t>in a controlled manner  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catch and manage errors during runtime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preventing the application from crashing 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providing users with meaningful feedback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JavaScript provides the </a:t>
            </a:r>
            <a:r>
              <a:rPr lang="en-GB" b="1" dirty="0"/>
              <a:t>try, catch, finally</a:t>
            </a:r>
            <a:r>
              <a:rPr lang="en-GB" dirty="0"/>
              <a:t>  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Try block contains the code that might throw an error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If an error occurs, the catch block is executed to handle the error accessing an </a:t>
            </a:r>
            <a:r>
              <a:rPr lang="en-GB" b="1" dirty="0"/>
              <a:t>error object</a:t>
            </a:r>
            <a:r>
              <a:rPr lang="en-GB" dirty="0"/>
              <a:t> (error message, stack trace, and error type)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Finally block (optional) runs regardless of whether an error occurred or not. Used for cleanup tasks (e.g. releasing resources), ensuring that these actions are always performed no matter what happens</a:t>
            </a: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endParaRPr lang="en-GB" sz="800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Example:</a:t>
            </a:r>
          </a:p>
          <a:p>
            <a:pPr marL="133350" indent="0"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</a:t>
            </a:r>
          </a:p>
          <a:p>
            <a:pPr marL="133350" indent="0"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try {</a:t>
            </a:r>
          </a:p>
          <a:p>
            <a:pPr marL="133350" indent="0"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	   let data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JSON.parse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('{"name": "John", age: 30}'); // Syntax error</a:t>
            </a:r>
          </a:p>
          <a:p>
            <a:pPr marL="133350" indent="0"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} </a:t>
            </a:r>
          </a:p>
          <a:p>
            <a:pPr marL="133350" indent="0"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catch (error) {</a:t>
            </a:r>
          </a:p>
          <a:p>
            <a:pPr marL="133350" indent="0"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	 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("An error occurred:",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error.message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);</a:t>
            </a:r>
          </a:p>
          <a:p>
            <a:pPr marL="133350" indent="0"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}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1249554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>
          <a:extLst>
            <a:ext uri="{FF2B5EF4-FFF2-40B4-BE49-F238E27FC236}">
              <a16:creationId xmlns:a16="http://schemas.microsoft.com/office/drawing/2014/main" id="{67BC7C6D-9077-4362-89A4-B53A1DF945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>
            <a:extLst>
              <a:ext uri="{FF2B5EF4-FFF2-40B4-BE49-F238E27FC236}">
                <a16:creationId xmlns:a16="http://schemas.microsoft.com/office/drawing/2014/main" id="{FD33CE19-A527-BEDE-3CF9-5532E295360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Modules</a:t>
            </a:r>
            <a:endParaRPr dirty="0"/>
          </a:p>
        </p:txBody>
      </p:sp>
      <p:sp>
        <p:nvSpPr>
          <p:cNvPr id="135" name="Google Shape;135;p21">
            <a:extLst>
              <a:ext uri="{FF2B5EF4-FFF2-40B4-BE49-F238E27FC236}">
                <a16:creationId xmlns:a16="http://schemas.microsoft.com/office/drawing/2014/main" id="{2248243C-A928-5BF5-4EE1-E4A3F24EF0D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02700" y="1104349"/>
            <a:ext cx="8818500" cy="553158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A way </a:t>
            </a:r>
            <a:r>
              <a:rPr lang="en-GB" b="1" dirty="0"/>
              <a:t>to organize and structure code</a:t>
            </a:r>
            <a:r>
              <a:rPr lang="en-GB" dirty="0"/>
              <a:t> into reusable, isolated units that can be easily imported and exported between different parts of an application</a:t>
            </a: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Each module can have its own set of variables, functions, and objects, which are scoped to that module and not accessible globally unless </a:t>
            </a:r>
            <a:r>
              <a:rPr lang="en-GB"/>
              <a:t>explicitly exported </a:t>
            </a:r>
            <a:endParaRPr lang="en-GB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endParaRPr lang="en-GB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For example, to export a function from a module, you can use the export keyword:</a:t>
            </a:r>
          </a:p>
          <a:p>
            <a:pPr marL="133350" indent="0">
              <a:buSzPts val="1500"/>
              <a:buNone/>
            </a:pPr>
            <a:r>
              <a:rPr lang="en-GB" sz="18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</a:t>
            </a: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// </a:t>
            </a:r>
            <a:r>
              <a:rPr lang="en-GB" sz="14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module.js</a:t>
            </a:r>
            <a:endParaRPr lang="en-GB" sz="14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133350" indent="0">
              <a:buSzPts val="1500"/>
              <a:buNone/>
            </a:pP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export function greet(name) {</a:t>
            </a:r>
          </a:p>
          <a:p>
            <a:pPr marL="133350" indent="0">
              <a:buSzPts val="1500"/>
              <a:buNone/>
            </a:pP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	   return `Hello, ${name}!`;</a:t>
            </a:r>
          </a:p>
          <a:p>
            <a:pPr marL="133350" indent="0">
              <a:buSzPts val="1500"/>
              <a:buNone/>
            </a:pP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} </a:t>
            </a:r>
          </a:p>
          <a:p>
            <a:pPr marL="12065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endParaRPr lang="en-GB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Then, in another file, we can import and use the function like this:</a:t>
            </a:r>
            <a:br>
              <a:rPr lang="en-GB" dirty="0"/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</a:t>
            </a:r>
          </a:p>
          <a:p>
            <a:pPr>
              <a:lnSpc>
                <a:spcPts val="1350"/>
              </a:lnSpc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		</a:t>
            </a: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  <a:t>// </a:t>
            </a:r>
            <a:r>
              <a:rPr lang="en-GB" sz="14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  <a:t>app.js</a:t>
            </a:r>
            <a:endParaRPr lang="en-GB" sz="1400" dirty="0">
              <a:solidFill>
                <a:srgbClr val="000000"/>
              </a:solidFill>
              <a:highlight>
                <a:srgbClr val="FFFFFF"/>
              </a:highlight>
              <a:latin typeface="Courier New"/>
              <a:cs typeface="Courier New"/>
            </a:endParaRPr>
          </a:p>
          <a:p>
            <a:pPr>
              <a:lnSpc>
                <a:spcPts val="1350"/>
              </a:lnSpc>
              <a:buNone/>
            </a:pP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  <a:t>		import { greet } from './</a:t>
            </a:r>
            <a:r>
              <a:rPr lang="en-GB" sz="14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  <a:t>module.js</a:t>
            </a: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  <a:t>’;</a:t>
            </a:r>
          </a:p>
          <a:p>
            <a:pPr marL="120650" indent="0">
              <a:lnSpc>
                <a:spcPts val="1350"/>
              </a:lnSpc>
              <a:buNone/>
            </a:pPr>
            <a:b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</a:b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  <a:t>	</a:t>
            </a:r>
            <a:r>
              <a:rPr lang="en-GB" sz="14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  <a:t>console.log</a:t>
            </a:r>
            <a:r>
              <a:rPr lang="en-GB" sz="14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cs typeface="Courier New"/>
              </a:rPr>
              <a:t>(greet('Alice')); // Outputs: Hello, Alice!</a:t>
            </a:r>
          </a:p>
          <a:p>
            <a:pPr marL="133350" indent="0">
              <a:buSzPts val="1500"/>
              <a:buNone/>
            </a:pPr>
            <a:endParaRPr lang="en-GB"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  <p:extLst>
      <p:ext uri="{BB962C8B-B14F-4D97-AF65-F5344CB8AC3E}">
        <p14:creationId xmlns:p14="http://schemas.microsoft.com/office/powerpoint/2010/main" val="179800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Code Examples (1)</a:t>
            </a:r>
            <a:endParaRPr dirty="0"/>
          </a:p>
        </p:txBody>
      </p:sp>
      <p:sp>
        <p:nvSpPr>
          <p:cNvPr id="142" name="Google Shape;142;p22"/>
          <p:cNvSpPr txBox="1">
            <a:spLocks noGrp="1"/>
          </p:cNvSpPr>
          <p:nvPr>
            <p:ph type="body" idx="1"/>
          </p:nvPr>
        </p:nvSpPr>
        <p:spPr>
          <a:xfrm>
            <a:off x="202700" y="1619794"/>
            <a:ext cx="8818500" cy="459775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factorial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 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if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throw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new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267F99"/>
                </a:solidFill>
                <a:effectLst/>
                <a:latin typeface="Menlo" panose="020B0609030804020204" pitchFamily="49" charset="0"/>
              </a:rPr>
              <a:t>Error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"Factorial is not defined for negative numbers."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if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===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||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===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*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factorial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}</a:t>
            </a:r>
            <a:endParaRPr lang="en-GB" sz="1200" b="0" dirty="0">
              <a:solidFill>
                <a:srgbClr val="00108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GB" sz="1200" b="0" dirty="0">
              <a:solidFill>
                <a:srgbClr val="00108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factorial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15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Outputs 1307674368000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factorial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Outputs 1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120650" indent="0"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factorial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Outputs 1</a:t>
            </a:r>
          </a:p>
          <a:p>
            <a:pPr marL="120650" indent="0">
              <a:lnSpc>
                <a:spcPts val="1350"/>
              </a:lnSpc>
              <a:buNone/>
            </a:pPr>
            <a:endParaRPr lang="en-GB" sz="1200" dirty="0">
              <a:solidFill>
                <a:srgbClr val="008000"/>
              </a:solidFill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GB" sz="12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binarySearch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target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start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end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length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// Base case: not found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if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start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end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undefined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b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</a:br>
            <a:r>
              <a:rPr lang="en-GB" sz="1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mid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Math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floor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start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end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/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  <a:b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</a:b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if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mid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===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target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mid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if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mid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target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binarySearch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target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mid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end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binarySearch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target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start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mid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}</a:t>
            </a:r>
          </a:p>
          <a:p>
            <a:pPr>
              <a:lnSpc>
                <a:spcPts val="1350"/>
              </a:lnSpc>
              <a:buNone/>
            </a:pPr>
            <a:endParaRPr lang="en-GB" sz="12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list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[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45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76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93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204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345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6654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binarySearch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list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345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Outputs: 5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binarySearch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list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50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Outputs: undefined (not found)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binarySearch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list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Outputs: 0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120650" indent="0"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binarySearch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list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6654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Outputs: 6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120650" indent="0">
              <a:lnSpc>
                <a:spcPts val="1350"/>
              </a:lnSpc>
              <a:buNone/>
            </a:pP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>
          <a:extLst>
            <a:ext uri="{FF2B5EF4-FFF2-40B4-BE49-F238E27FC236}">
              <a16:creationId xmlns:a16="http://schemas.microsoft.com/office/drawing/2014/main" id="{C5D8FD30-0BA1-E507-D038-6FE0FF545D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2">
            <a:extLst>
              <a:ext uri="{FF2B5EF4-FFF2-40B4-BE49-F238E27FC236}">
                <a16:creationId xmlns:a16="http://schemas.microsoft.com/office/drawing/2014/main" id="{EE518E43-0201-9296-AA95-B050F58A11C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Code Examples (2)</a:t>
            </a:r>
            <a:endParaRPr dirty="0"/>
          </a:p>
        </p:txBody>
      </p:sp>
      <p:sp>
        <p:nvSpPr>
          <p:cNvPr id="142" name="Google Shape;142;p22">
            <a:extLst>
              <a:ext uri="{FF2B5EF4-FFF2-40B4-BE49-F238E27FC236}">
                <a16:creationId xmlns:a16="http://schemas.microsoft.com/office/drawing/2014/main" id="{166A7572-E0BD-3149-9BDF-46764E5810A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02700" y="1257300"/>
            <a:ext cx="8818500" cy="49602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swap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first_index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second_index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){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let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temp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first_index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first_index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second_index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second_index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temp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}</a:t>
            </a:r>
          </a:p>
          <a:p>
            <a:pPr>
              <a:lnSpc>
                <a:spcPts val="1350"/>
              </a:lnSpc>
              <a:buNone/>
            </a:pPr>
            <a:endParaRPr lang="en-GB" sz="12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bubble_sort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){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let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len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length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for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len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++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for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j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j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len</a:t>
            </a:r>
            <a:r>
              <a:rPr lang="en-GB" sz="12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j</a:t>
            </a:r>
            <a:r>
              <a:rPr lang="en-GB" sz="12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++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	if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j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&gt;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j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]) 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swap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j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j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return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array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}</a:t>
            </a:r>
            <a:endParaRPr lang="en-GB" sz="12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[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5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-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4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 marL="120650" indent="0">
              <a:lnSpc>
                <a:spcPts val="1350"/>
              </a:lnSpc>
              <a:buNone/>
            </a:pP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bubble_sort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[-1, 0, 1, 2, 3, 4, 5]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120650" indent="0">
              <a:lnSpc>
                <a:spcPts val="1350"/>
              </a:lnSpc>
              <a:buNone/>
            </a:pP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80683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3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Functional Programming (1)</a:t>
            </a:r>
            <a:endParaRPr dirty="0"/>
          </a:p>
        </p:txBody>
      </p:sp>
      <p:sp>
        <p:nvSpPr>
          <p:cNvPr id="148" name="Google Shape;148;p23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345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b="1" dirty="0"/>
              <a:t>High-order functions</a:t>
            </a:r>
            <a:r>
              <a:rPr lang="en-GB" dirty="0"/>
              <a:t>: functions that operate on other functions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taking them as arguments, or returning theme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Allow to </a:t>
            </a:r>
            <a:r>
              <a:rPr lang="en-GB" b="1" dirty="0"/>
              <a:t>abstract over actions</a:t>
            </a:r>
            <a:r>
              <a:rPr lang="en-GB" dirty="0"/>
              <a:t>, not just values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GB" sz="10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Example:</a:t>
            </a:r>
          </a:p>
          <a:p>
            <a:pPr marL="12065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  function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greater_than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(n)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function(m) { return n&gt;m; };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greater_than_10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greater_than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(10);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(greater_than_10(7)); //true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(greater_than_10(11)); //false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greater_than_4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greater_than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(4);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(greater_than_4(3)); //true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(greater_than_4(5)); //false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</a:t>
            </a:r>
            <a:endParaRPr sz="900"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n is a parameter of the outer function, but because the inner function lives inside the environment of the outer one, it can use n</a:t>
            </a:r>
            <a:endParaRPr dirty="0"/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the body of the inner function can access variables around it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lang="it-IT" sz="600" dirty="0"/>
          </a:p>
          <a:p>
            <a:r>
              <a:rPr lang="en-GB" dirty="0"/>
              <a:t>Other examples: filter, map, reduce</a:t>
            </a:r>
            <a:endParaRPr dirty="0"/>
          </a:p>
          <a:p>
            <a:pPr marL="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endParaRPr dirty="0"/>
          </a:p>
          <a:p>
            <a:pPr marL="457200" marR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Functional Programming (2)</a:t>
            </a:r>
            <a:endParaRPr dirty="0"/>
          </a:p>
        </p:txBody>
      </p:sp>
      <p:sp>
        <p:nvSpPr>
          <p:cNvPr id="155" name="Google Shape;155;p24"/>
          <p:cNvSpPr txBox="1">
            <a:spLocks noGrp="1"/>
          </p:cNvSpPr>
          <p:nvPr>
            <p:ph type="body" idx="1"/>
          </p:nvPr>
        </p:nvSpPr>
        <p:spPr>
          <a:xfrm>
            <a:off x="460650" y="911868"/>
            <a:ext cx="8520600" cy="576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1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filter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(array, test) {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let passed = [];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for(let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=0;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array.length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++)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if(test(array[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]))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passed.push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(array[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passed;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a=[2,3,5,6];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test = function(x) { return x&gt;=5; }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filtered = filter(a, test)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(filtered);</a:t>
            </a:r>
            <a:endParaRPr sz="1100" dirty="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it-IT"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1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map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(array, transform) {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let mapped = [];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for(let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=0;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array.length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++)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mapped.push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(transform(array[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]));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mapped;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 = ['3', '5', '6'];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transform = function(x) { return Number(x) }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mapped = map(a, transform);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(mapped);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it-IT"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1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reduce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(array, combine, start) {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let current = start;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for(let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=0;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&lt;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array.length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++) current = combine(current, array[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i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]);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current;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1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a = [3, 5, 6];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sum = function(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x,y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) { return </a:t>
            </a: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x+y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};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result = reduce(a, sum, 0);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(result);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  <a:p>
            <a:pPr marL="0" marR="0" lvl="0" indent="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9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9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9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2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Functional Programming (3)</a:t>
            </a:r>
            <a:endParaRPr dirty="0"/>
          </a:p>
        </p:txBody>
      </p:sp>
      <p:sp>
        <p:nvSpPr>
          <p:cNvPr id="213" name="Google Shape;213;p32"/>
          <p:cNvSpPr txBox="1">
            <a:spLocks noGrp="1"/>
          </p:cNvSpPr>
          <p:nvPr>
            <p:ph type="body" idx="1"/>
          </p:nvPr>
        </p:nvSpPr>
        <p:spPr>
          <a:xfrm>
            <a:off x="311700" y="1043733"/>
            <a:ext cx="8818500" cy="554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What happens to variables when the function is no longer active?</a:t>
            </a:r>
            <a:endParaRPr dirty="0"/>
          </a:p>
          <a:p>
            <a:pPr marL="0" marR="0" lvl="0" indent="4572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function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wrapValue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(n)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let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localVariable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n;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return function() { return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localVariable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};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wrap1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wrapValue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(1);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wrap2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wrapValue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(2);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(wrap1());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(wrap2());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Closures</a:t>
            </a:r>
            <a:r>
              <a:rPr lang="en-GB" dirty="0"/>
              <a:t>: being able to reference a local variable outside its scope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Think of it as </a:t>
            </a:r>
            <a:r>
              <a:rPr lang="en-GB" b="1" dirty="0"/>
              <a:t>an handle to a piece of computation, frozen for later use</a:t>
            </a:r>
          </a:p>
          <a:p>
            <a:pPr>
              <a:lnSpc>
                <a:spcPts val="1350"/>
              </a:lnSpc>
              <a:buNone/>
            </a:pPr>
            <a:r>
              <a:rPr lang="en-GB" sz="12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</a:t>
            </a:r>
            <a:br>
              <a:rPr lang="en-GB" sz="1200" b="1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createCounter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 {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let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count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return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() {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	  count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++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	  </a:t>
            </a:r>
            <a:r>
              <a:rPr lang="en-GB" sz="12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2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2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`Current count: </a:t>
            </a: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${</a:t>
            </a:r>
            <a:r>
              <a:rPr lang="en-GB" sz="12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count</a:t>
            </a: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}</a:t>
            </a:r>
            <a:r>
              <a:rPr lang="en-GB" sz="12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`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};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}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en-GB" sz="12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counter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2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createCounter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(); </a:t>
            </a: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	counter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Current count: 1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	counter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Current count: 2</a:t>
            </a:r>
            <a:endParaRPr lang="en-GB" sz="12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en-GB" sz="12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counter</a:t>
            </a:r>
            <a:r>
              <a:rPr lang="en-GB" sz="12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(); </a:t>
            </a:r>
            <a:r>
              <a:rPr lang="en-GB" sz="12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Current count: 3</a:t>
            </a:r>
            <a:endParaRPr lang="en-GB" sz="12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>
          <a:extLst>
            <a:ext uri="{FF2B5EF4-FFF2-40B4-BE49-F238E27FC236}">
              <a16:creationId xmlns:a16="http://schemas.microsoft.com/office/drawing/2014/main" id="{7680BF0F-78D5-F213-F617-2C00C1682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2">
            <a:extLst>
              <a:ext uri="{FF2B5EF4-FFF2-40B4-BE49-F238E27FC236}">
                <a16:creationId xmlns:a16="http://schemas.microsoft.com/office/drawing/2014/main" id="{BF6D91C8-3751-0BC4-6C09-3EE5864F6C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Functional Programming (4)</a:t>
            </a:r>
            <a:endParaRPr dirty="0"/>
          </a:p>
        </p:txBody>
      </p:sp>
      <p:sp>
        <p:nvSpPr>
          <p:cNvPr id="213" name="Google Shape;213;p32">
            <a:extLst>
              <a:ext uri="{FF2B5EF4-FFF2-40B4-BE49-F238E27FC236}">
                <a16:creationId xmlns:a16="http://schemas.microsoft.com/office/drawing/2014/main" id="{2CB1A669-EBF9-C2F2-9D67-891FFD43A3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043733"/>
            <a:ext cx="8818500" cy="554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Currying</a:t>
            </a:r>
            <a:r>
              <a:rPr lang="en-GB" dirty="0"/>
              <a:t>:  transforms a function from being called as f(a, b, c) into a sequence of calls like f(a)(b)(c):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curry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  return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    return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b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      return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        return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b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        }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     };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  };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}</a:t>
            </a:r>
          </a:p>
          <a:p>
            <a:pPr>
              <a:lnSpc>
                <a:spcPts val="1350"/>
              </a:lnSpc>
              <a:buNone/>
            </a:pPr>
            <a:endParaRPr lang="en-GB" sz="10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00FF"/>
                </a:solidFill>
                <a:latin typeface="Menlo" panose="020B0609030804020204" pitchFamily="49" charset="0"/>
              </a:rPr>
              <a:t>		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b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  return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b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;}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00FF"/>
                </a:solidFill>
                <a:latin typeface="Menlo" panose="020B0609030804020204" pitchFamily="49" charset="0"/>
              </a:rPr>
              <a:t>		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curriedSum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curry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	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3B3B3B"/>
                </a:solidFill>
                <a:latin typeface="Menlo" panose="020B0609030804020204" pitchFamily="49" charset="0"/>
              </a:rPr>
              <a:t>		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curriedSum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)(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)(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</a:t>
            </a: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GB"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We can create a specialized version of a function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date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type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message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	 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date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getHours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(),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date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getMinutes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type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message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3B3B3B"/>
                </a:solidFill>
                <a:latin typeface="Menlo" panose="020B0609030804020204" pitchFamily="49" charset="0"/>
              </a:rPr>
              <a:t>		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}</a:t>
            </a:r>
            <a:b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</a:br>
            <a:endParaRPr lang="en-GB" sz="8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800" dirty="0">
                <a:solidFill>
                  <a:srgbClr val="3B3B3B"/>
                </a:solidFill>
                <a:latin typeface="Menlo" panose="020B0609030804020204" pitchFamily="49" charset="0"/>
              </a:rPr>
              <a:t>		</a:t>
            </a:r>
            <a:r>
              <a:rPr lang="en-GB" sz="8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8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curriedLog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8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8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curry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8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8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</a:t>
            </a:r>
            <a:br>
              <a:rPr lang="en-GB" sz="8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</a:br>
            <a:r>
              <a:rPr lang="en-GB" sz="8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let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8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logNow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8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8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curriedLog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8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new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800" b="0" dirty="0">
                <a:solidFill>
                  <a:srgbClr val="267F99"/>
                </a:solidFill>
                <a:effectLst/>
                <a:latin typeface="Menlo" panose="020B0609030804020204" pitchFamily="49" charset="0"/>
              </a:rPr>
              <a:t>Date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());</a:t>
            </a:r>
          </a:p>
          <a:p>
            <a:pPr>
              <a:lnSpc>
                <a:spcPts val="1350"/>
              </a:lnSpc>
              <a:buNone/>
            </a:pPr>
            <a:r>
              <a:rPr lang="en-GB" sz="800" dirty="0">
                <a:solidFill>
                  <a:srgbClr val="3B3B3B"/>
                </a:solidFill>
                <a:latin typeface="Menlo" panose="020B0609030804020204" pitchFamily="49" charset="0"/>
              </a:rPr>
              <a:t>		</a:t>
            </a:r>
            <a:r>
              <a:rPr lang="en-GB" sz="8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logNow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8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"DEBUG"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)(</a:t>
            </a:r>
            <a:r>
              <a:rPr lang="en-GB" sz="8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"Message"</a:t>
            </a:r>
            <a:r>
              <a:rPr lang="en-GB" sz="8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endParaRPr lang="en-GB" sz="8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GB" sz="8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endParaRPr lang="en-IT" dirty="0"/>
          </a:p>
        </p:txBody>
      </p:sp>
    </p:spTree>
    <p:extLst>
      <p:ext uri="{BB962C8B-B14F-4D97-AF65-F5344CB8AC3E}">
        <p14:creationId xmlns:p14="http://schemas.microsoft.com/office/powerpoint/2010/main" val="12555130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Object Oriented Programming (1)</a:t>
            </a:r>
          </a:p>
        </p:txBody>
      </p:sp>
      <p:sp>
        <p:nvSpPr>
          <p:cNvPr id="162" name="Google Shape;162;p25"/>
          <p:cNvSpPr txBox="1">
            <a:spLocks noGrp="1"/>
          </p:cNvSpPr>
          <p:nvPr>
            <p:ph type="body" idx="1"/>
          </p:nvPr>
        </p:nvSpPr>
        <p:spPr>
          <a:xfrm>
            <a:off x="202700" y="909568"/>
            <a:ext cx="8818500" cy="564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Objects</a:t>
            </a:r>
            <a:r>
              <a:rPr lang="en-GB" dirty="0"/>
              <a:t>: Arbitrary collections of properties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you can create object directly, </a:t>
            </a:r>
            <a:r>
              <a:rPr lang="en-GB" b="1" dirty="0"/>
              <a:t>without a class</a:t>
            </a:r>
            <a:r>
              <a:rPr lang="en-GB" dirty="0"/>
              <a:t>!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name = { list of properties separated by commas };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sz="800"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Properties are specified by a name, a colon, and an expression </a:t>
            </a:r>
            <a:endParaRPr lang="en-GB" sz="1500" dirty="0"/>
          </a:p>
          <a:p>
            <a:pPr marL="12065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GB" sz="15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-GB" sz="11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example = { name: 'example', values : [1,2,3], length: 3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(example);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Not compare objects with == (e.g. remember pointers...)</a:t>
            </a:r>
          </a:p>
          <a:p>
            <a:pPr marL="12065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	let example1 = { name: 'example'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example2 = { name: 'example'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(example1 == example2); //false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Methods</a:t>
            </a:r>
          </a:p>
          <a:p>
            <a:pPr lvl="1">
              <a:spcBef>
                <a:spcPts val="0"/>
              </a:spcBef>
            </a:pPr>
            <a:r>
              <a:rPr lang="en-GB" dirty="0"/>
              <a:t>properties that hold function values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“this” (in the body of the function) points to the object</a:t>
            </a:r>
            <a:endParaRPr lang="en-GB" sz="1700" dirty="0"/>
          </a:p>
          <a:p>
            <a:pPr marL="590550" lvl="1" indent="0" algn="l" rtl="0"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let example = {name: 'example', append: function(x){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+ ' ' + x;} }</a:t>
            </a:r>
          </a:p>
          <a:p>
            <a:pPr marL="590550" lvl="1" indent="0" algn="l" rtl="0"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(example);</a:t>
            </a:r>
          </a:p>
          <a:p>
            <a:pPr marL="590550" lvl="1" indent="0" algn="l" rtl="0"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example.append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('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pippo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’);</a:t>
            </a:r>
          </a:p>
          <a:p>
            <a:pPr marL="590550" lvl="1" indent="0" algn="l" rtl="0"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console.log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(example);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8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The </a:t>
            </a:r>
            <a:r>
              <a:rPr lang="en-GB" b="1" dirty="0"/>
              <a:t>Math object</a:t>
            </a:r>
            <a:r>
              <a:rPr lang="en-GB" dirty="0"/>
              <a:t>: a container to group a bunch of math related functionalities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The </a:t>
            </a:r>
            <a:r>
              <a:rPr lang="en-GB" b="1" dirty="0"/>
              <a:t>JSON object</a:t>
            </a:r>
            <a:r>
              <a:rPr lang="en-GB" dirty="0"/>
              <a:t>: </a:t>
            </a:r>
            <a:r>
              <a:rPr lang="en-GB" dirty="0" err="1"/>
              <a:t>stringify</a:t>
            </a:r>
            <a:r>
              <a:rPr lang="en-GB" dirty="0"/>
              <a:t>(), parse() to convert data from end to this format</a:t>
            </a:r>
            <a:endParaRPr dirty="0"/>
          </a:p>
          <a:p>
            <a:pPr marL="457200" marR="0" lvl="0" indent="4572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Object Oriented Programming (2)</a:t>
            </a:r>
            <a:endParaRPr dirty="0"/>
          </a:p>
        </p:txBody>
      </p:sp>
      <p:sp>
        <p:nvSpPr>
          <p:cNvPr id="170" name="Google Shape;170;p26"/>
          <p:cNvSpPr txBox="1">
            <a:spLocks noGrp="1"/>
          </p:cNvSpPr>
          <p:nvPr>
            <p:ph type="body" idx="1"/>
          </p:nvPr>
        </p:nvSpPr>
        <p:spPr>
          <a:xfrm>
            <a:off x="195150" y="1065030"/>
            <a:ext cx="8818500" cy="548381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Factory: </a:t>
            </a:r>
            <a:r>
              <a:rPr lang="en-GB" dirty="0"/>
              <a:t>a function that returns an object</a:t>
            </a:r>
          </a:p>
          <a:p>
            <a:pPr>
              <a:lnSpc>
                <a:spcPts val="1350"/>
              </a:lnSpc>
              <a:buNone/>
            </a:pPr>
            <a:r>
              <a:rPr lang="en-GB" sz="105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function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5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createUser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5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5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age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5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  return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{</a:t>
            </a:r>
          </a:p>
          <a:p>
            <a:pPr>
              <a:lnSpc>
                <a:spcPts val="1350"/>
              </a:lnSpc>
              <a:buNone/>
            </a:pPr>
            <a:r>
              <a:rPr lang="en-GB" sz="105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	    name: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5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pPr>
              <a:lnSpc>
                <a:spcPts val="1350"/>
              </a:lnSpc>
              <a:buNone/>
            </a:pPr>
            <a:r>
              <a:rPr lang="en-GB" sz="105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	    age: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5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age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</a:t>
            </a:r>
          </a:p>
          <a:p>
            <a:pPr>
              <a:lnSpc>
                <a:spcPts val="1350"/>
              </a:lnSpc>
              <a:buNone/>
            </a:pPr>
            <a:r>
              <a:rPr lang="en-GB" sz="1050" dirty="0">
                <a:solidFill>
                  <a:srgbClr val="795E26"/>
                </a:solidFill>
                <a:latin typeface="Menlo" panose="020B0609030804020204" pitchFamily="49" charset="0"/>
              </a:rPr>
              <a:t>		    </a:t>
            </a:r>
            <a:r>
              <a:rPr lang="en-GB" sz="105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greet: function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 {</a:t>
            </a:r>
          </a:p>
          <a:p>
            <a:pPr>
              <a:lnSpc>
                <a:spcPts val="1350"/>
              </a:lnSpc>
              <a:buNone/>
            </a:pPr>
            <a:r>
              <a:rPr lang="en-GB" sz="105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	      </a:t>
            </a:r>
            <a:r>
              <a:rPr lang="en-GB" sz="105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5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5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5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`Hello, my name is </a:t>
            </a:r>
            <a:r>
              <a:rPr lang="en-GB" sz="105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${</a:t>
            </a:r>
            <a:r>
              <a:rPr lang="en-GB" sz="105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en-GB" sz="105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5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GB" sz="105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}</a:t>
            </a:r>
            <a:r>
              <a:rPr lang="en-GB" sz="105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and I am </a:t>
            </a:r>
            <a:r>
              <a:rPr lang="en-GB" sz="105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${</a:t>
            </a:r>
            <a:r>
              <a:rPr lang="en-GB" sz="105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en-GB" sz="105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5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age</a:t>
            </a:r>
            <a:r>
              <a:rPr lang="en-GB" sz="105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}</a:t>
            </a:r>
            <a:r>
              <a:rPr lang="en-GB" sz="105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years old.`</a:t>
            </a: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>
              <a:lnSpc>
                <a:spcPts val="1350"/>
              </a:lnSpc>
              <a:buNone/>
            </a:pP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    }</a:t>
            </a:r>
          </a:p>
          <a:p>
            <a:pPr>
              <a:lnSpc>
                <a:spcPts val="1350"/>
              </a:lnSpc>
              <a:buNone/>
            </a:pPr>
            <a:r>
              <a:rPr lang="en-GB" sz="10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  };</a:t>
            </a:r>
          </a:p>
          <a:p>
            <a:pPr>
              <a:lnSpc>
                <a:spcPts val="1350"/>
              </a:lnSpc>
              <a:buNone/>
            </a:pPr>
            <a:r>
              <a:rPr lang="en-GB" sz="1050" dirty="0">
                <a:solidFill>
                  <a:srgbClr val="3B3B3B"/>
                </a:solidFill>
                <a:latin typeface="Menlo" panose="020B0609030804020204" pitchFamily="49" charset="0"/>
              </a:rPr>
              <a:t>		</a:t>
            </a:r>
            <a:r>
              <a:rPr lang="en-GB" sz="85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}</a:t>
            </a: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Constructor</a:t>
            </a:r>
            <a:r>
              <a:rPr lang="en-GB" dirty="0"/>
              <a:t>: a function called with the </a:t>
            </a:r>
            <a:r>
              <a:rPr lang="en-GB" b="1" dirty="0"/>
              <a:t>new</a:t>
            </a:r>
            <a:r>
              <a:rPr lang="en-GB" dirty="0"/>
              <a:t> keyword, to create multiple instances with shared properties and methods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267F99"/>
                </a:solidFill>
                <a:effectLst/>
                <a:latin typeface="Menlo" panose="020B0609030804020204" pitchFamily="49" charset="0"/>
              </a:rPr>
              <a:t>User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age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  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  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age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age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}</a:t>
            </a:r>
          </a:p>
          <a:p>
            <a:pPr marL="914400" marR="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all instances created with a constructor are </a:t>
            </a:r>
            <a:r>
              <a:rPr lang="en-GB" b="1" dirty="0"/>
              <a:t>linked to a prototype: </a:t>
            </a:r>
            <a:r>
              <a:rPr lang="en-GB" dirty="0"/>
              <a:t>an object from which an object inherits properties and methods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8000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// Adding a method to the prototype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267F99"/>
                </a:solidFill>
                <a:effectLst/>
                <a:latin typeface="Menlo" panose="020B0609030804020204" pitchFamily="49" charset="0"/>
              </a:rPr>
              <a:t>		</a:t>
            </a:r>
            <a:r>
              <a:rPr lang="en-GB" sz="1000" b="0" dirty="0" err="1">
                <a:solidFill>
                  <a:srgbClr val="267F99"/>
                </a:solidFill>
                <a:effectLst/>
                <a:latin typeface="Menlo" panose="020B0609030804020204" pitchFamily="49" charset="0"/>
              </a:rPr>
              <a:t>User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prototype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greet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	 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`Hello, my name is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${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en-GB" sz="1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name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}</a:t>
            </a:r>
            <a:r>
              <a:rPr lang="en-GB" sz="1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and I am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${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en-GB" sz="1000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age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}</a:t>
            </a:r>
            <a:r>
              <a:rPr lang="en-GB" sz="1000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years old.`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</a:p>
          <a:p>
            <a:pPr marL="120650" indent="0"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};</a:t>
            </a:r>
            <a:endParaRPr lang="en-GB" sz="8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sz="1400" dirty="0"/>
              <a:t>Example: see 01.LinkedList.js code</a:t>
            </a:r>
            <a:endParaRPr lang="en-GB" sz="14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350" dirty="0">
              <a:solidFill>
                <a:srgbClr val="D4D4D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8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Object Oriented Programming (3)</a:t>
            </a:r>
            <a:endParaRPr dirty="0"/>
          </a:p>
        </p:txBody>
      </p:sp>
      <p:sp>
        <p:nvSpPr>
          <p:cNvPr id="187" name="Google Shape;187;p28"/>
          <p:cNvSpPr txBox="1">
            <a:spLocks noGrp="1"/>
          </p:cNvSpPr>
          <p:nvPr>
            <p:ph type="body" idx="1"/>
          </p:nvPr>
        </p:nvSpPr>
        <p:spPr>
          <a:xfrm>
            <a:off x="217775" y="964725"/>
            <a:ext cx="8818500" cy="5750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ES6 introduced </a:t>
            </a:r>
            <a:r>
              <a:rPr lang="en-GB" b="1" dirty="0"/>
              <a:t>classes</a:t>
            </a:r>
          </a:p>
          <a:p>
            <a:pPr lvl="1">
              <a:spcBef>
                <a:spcPts val="0"/>
              </a:spcBef>
            </a:pPr>
            <a:r>
              <a:rPr lang="en-GB" dirty="0"/>
              <a:t>properties are assigned inside a constructor() method</a:t>
            </a:r>
          </a:p>
          <a:p>
            <a:pPr lvl="2" indent="-323850">
              <a:spcBef>
                <a:spcPts val="0"/>
              </a:spcBef>
              <a:buSzPts val="1500"/>
              <a:buChar char="○"/>
            </a:pPr>
            <a:r>
              <a:rPr lang="en-GB" dirty="0"/>
              <a:t>it is called automatically when a class is initiated</a:t>
            </a:r>
          </a:p>
          <a:p>
            <a:pPr lvl="1">
              <a:spcBef>
                <a:spcPts val="0"/>
              </a:spcBef>
            </a:pPr>
            <a:r>
              <a:rPr lang="en-GB" dirty="0"/>
              <a:t>we can make our own methods </a:t>
            </a:r>
          </a:p>
          <a:p>
            <a:pPr lvl="1">
              <a:spcBef>
                <a:spcPts val="0"/>
              </a:spcBef>
            </a:pPr>
            <a:r>
              <a:rPr lang="en-GB" dirty="0"/>
              <a:t>we can create “static” methods</a:t>
            </a:r>
          </a:p>
          <a:p>
            <a:pPr lvl="2">
              <a:spcBef>
                <a:spcPts val="0"/>
              </a:spcBef>
            </a:pPr>
            <a:r>
              <a:rPr lang="en-GB" dirty="0"/>
              <a:t>cannot be called on the object, but on the class</a:t>
            </a:r>
            <a:endParaRPr lang="en-GB" sz="1700" dirty="0"/>
          </a:p>
          <a:p>
            <a:pPr marL="596900" lvl="1" indent="0">
              <a:spcBef>
                <a:spcPts val="0"/>
              </a:spcBef>
              <a:buNone/>
            </a:pPr>
            <a:r>
              <a:rPr lang="en-GB" sz="13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class Car {</a:t>
            </a:r>
            <a:endParaRPr sz="13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constructor(brand) {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brand;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present() { return "I have a " +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static hello() { return "Hello!!";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mycar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new Car("Ford");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mycar.present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mycar.hello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//ERROR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Car.hello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();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298450" algn="l" rtl="0">
              <a:spcBef>
                <a:spcPts val="1600"/>
              </a:spcBef>
              <a:spcAft>
                <a:spcPts val="0"/>
              </a:spcAft>
              <a:buSzPts val="1100"/>
              <a:buFont typeface="Arial"/>
              <a:buChar char="●"/>
            </a:pPr>
            <a:r>
              <a:rPr lang="en-GB" sz="1700" dirty="0"/>
              <a:t>We have inheritance, using the “extends” keyword</a:t>
            </a:r>
            <a:br>
              <a:rPr lang="en-GB" dirty="0"/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 Model extends Car {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constructor(brand, mod) {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super(brand);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 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this.model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mod;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}</a:t>
            </a:r>
            <a:b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</a:b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 show() { return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this.present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+ ', it is a ' +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this.model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}}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9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Object Oriented Programming (3)</a:t>
            </a:r>
            <a:endParaRPr dirty="0"/>
          </a:p>
        </p:txBody>
      </p:sp>
      <p:sp>
        <p:nvSpPr>
          <p:cNvPr id="194" name="Google Shape;194;p29"/>
          <p:cNvSpPr txBox="1">
            <a:spLocks noGrp="1"/>
          </p:cNvSpPr>
          <p:nvPr>
            <p:ph type="body" idx="1"/>
          </p:nvPr>
        </p:nvSpPr>
        <p:spPr>
          <a:xfrm>
            <a:off x="162750" y="1112771"/>
            <a:ext cx="8818500" cy="449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9845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</a:pPr>
            <a:r>
              <a:rPr lang="en-GB" dirty="0"/>
              <a:t>Classes allows us to use getters and setters</a:t>
            </a:r>
            <a:endParaRPr dirty="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</a:pPr>
            <a:r>
              <a:rPr lang="en-GB" dirty="0"/>
              <a:t>use the </a:t>
            </a:r>
            <a:r>
              <a:rPr lang="en-GB" b="1" dirty="0"/>
              <a:t>get</a:t>
            </a:r>
            <a:r>
              <a:rPr lang="en-GB" dirty="0"/>
              <a:t> and </a:t>
            </a:r>
            <a:r>
              <a:rPr lang="en-GB" b="1" dirty="0"/>
              <a:t>set</a:t>
            </a:r>
            <a:r>
              <a:rPr lang="en-GB" dirty="0"/>
              <a:t> keywords </a:t>
            </a:r>
            <a:endParaRPr dirty="0"/>
          </a:p>
          <a:p>
            <a:pPr marL="914400" lvl="1" indent="-298450" algn="l" rtl="0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</a:pPr>
            <a:r>
              <a:rPr lang="en-GB" dirty="0"/>
              <a:t>names of getter/setter method cannot be the same as the name of the property (many use the _ before property name)</a:t>
            </a:r>
            <a:endParaRPr dirty="0"/>
          </a:p>
          <a:p>
            <a:pPr marL="0" marR="0" lvl="0" indent="457200" algn="l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class Car {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constructor(brand) { this._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brand;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get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() { return this._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 set 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(x) { this._</a:t>
            </a:r>
            <a:r>
              <a:rPr lang="en-GB" sz="1200" dirty="0" err="1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carname</a:t>
            </a: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 = x; }</a:t>
            </a:r>
            <a:endParaRPr sz="12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000000"/>
                </a:solidFill>
                <a:highlight>
                  <a:srgbClr val="FFFFFF"/>
                </a:highlight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30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/>
              <a:t>Object Oriented Programming (4)</a:t>
            </a:r>
            <a:endParaRPr dirty="0"/>
          </a:p>
        </p:txBody>
      </p:sp>
      <p:sp>
        <p:nvSpPr>
          <p:cNvPr id="200" name="Google Shape;200;p30"/>
          <p:cNvSpPr txBox="1">
            <a:spLocks noGrp="1"/>
          </p:cNvSpPr>
          <p:nvPr>
            <p:ph type="body" idx="1"/>
          </p:nvPr>
        </p:nvSpPr>
        <p:spPr>
          <a:xfrm>
            <a:off x="162750" y="1154129"/>
            <a:ext cx="8818500" cy="545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b="1" dirty="0"/>
              <a:t>Polymorphism</a:t>
            </a:r>
            <a:r>
              <a:rPr lang="en-GB" dirty="0"/>
              <a:t>: when a piece of code is written to work with objects that have a certain interface any kind of object that happens to support this interface can be plugged into the code, and it will just work</a:t>
            </a:r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endParaRPr sz="800" dirty="0"/>
          </a:p>
          <a:p>
            <a:pPr marL="457200" marR="0" lvl="0" indent="-3365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Open Sans"/>
              <a:buChar char="●"/>
            </a:pPr>
            <a:r>
              <a:rPr lang="en-GB" dirty="0"/>
              <a:t>Polymorphism without inheritance!</a:t>
            </a:r>
            <a:br>
              <a:rPr lang="en-GB" dirty="0"/>
            </a:br>
            <a:endParaRPr dirty="0"/>
          </a:p>
          <a:p>
            <a:pPr>
              <a:lnSpc>
                <a:spcPts val="1350"/>
              </a:lnSpc>
              <a:buNone/>
            </a:pPr>
            <a:r>
              <a:rPr lang="en-GB" sz="12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</a:t>
            </a:r>
            <a:endParaRPr dirty="0"/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D1F4048-CBE4-17A9-ECDF-2A16E63ECE27}"/>
              </a:ext>
            </a:extLst>
          </p:cNvPr>
          <p:cNvSpPr txBox="1"/>
          <p:nvPr/>
        </p:nvSpPr>
        <p:spPr>
          <a:xfrm>
            <a:off x="597048" y="2941916"/>
            <a:ext cx="7783158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350"/>
              </a:lnSpc>
              <a:buNone/>
            </a:pPr>
            <a:r>
              <a:rPr lang="it-IT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dog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{</a:t>
            </a:r>
          </a:p>
          <a:p>
            <a:pPr>
              <a:lnSpc>
                <a:spcPts val="1350"/>
              </a:lnSpc>
              <a:buNone/>
            </a:pPr>
            <a:r>
              <a:rPr lang="it-IT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speak</a:t>
            </a:r>
            <a:r>
              <a:rPr lang="it-IT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{ </a:t>
            </a:r>
            <a:r>
              <a:rPr lang="it-IT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it-IT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it-IT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"Dog </a:t>
            </a:r>
            <a:r>
              <a:rPr lang="it-IT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barks</a:t>
            </a:r>
            <a:r>
              <a:rPr lang="it-IT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 }</a:t>
            </a:r>
          </a:p>
          <a:p>
            <a:pPr>
              <a:lnSpc>
                <a:spcPts val="1350"/>
              </a:lnSpc>
              <a:buNone/>
            </a:pP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};</a:t>
            </a:r>
          </a:p>
          <a:p>
            <a:pPr>
              <a:lnSpc>
                <a:spcPts val="1350"/>
              </a:lnSpc>
              <a:buNone/>
            </a:pPr>
            <a:endParaRPr lang="it-IT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it-IT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 err="1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cat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{</a:t>
            </a:r>
          </a:p>
          <a:p>
            <a:pPr>
              <a:lnSpc>
                <a:spcPts val="1350"/>
              </a:lnSpc>
              <a:buNone/>
            </a:pPr>
            <a:r>
              <a:rPr lang="it-IT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   </a:t>
            </a: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speak</a:t>
            </a:r>
            <a:r>
              <a:rPr lang="it-IT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{ </a:t>
            </a:r>
            <a:r>
              <a:rPr lang="it-IT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it-IT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it-IT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it-IT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Cat</a:t>
            </a:r>
            <a:r>
              <a:rPr lang="it-IT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 err="1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meows</a:t>
            </a:r>
            <a:r>
              <a:rPr lang="it-IT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 }</a:t>
            </a:r>
          </a:p>
          <a:p>
            <a:pPr>
              <a:lnSpc>
                <a:spcPts val="1350"/>
              </a:lnSpc>
              <a:buNone/>
            </a:pP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};</a:t>
            </a:r>
          </a:p>
          <a:p>
            <a:pPr>
              <a:lnSpc>
                <a:spcPts val="1350"/>
              </a:lnSpc>
              <a:buNone/>
            </a:pPr>
            <a:endParaRPr lang="it-IT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it-IT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 err="1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bird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= { </a:t>
            </a: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speak</a:t>
            </a:r>
            <a:r>
              <a:rPr lang="it-IT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: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 { </a:t>
            </a:r>
            <a:r>
              <a:rPr lang="it-IT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it-IT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it-IT" b="0" dirty="0">
                <a:solidFill>
                  <a:srgbClr val="A31515"/>
                </a:solidFill>
                <a:effectLst/>
                <a:latin typeface="Menlo" panose="020B0609030804020204" pitchFamily="49" charset="0"/>
              </a:rPr>
              <a:t>"Bird chirps"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 } </a:t>
            </a:r>
          </a:p>
          <a:p>
            <a:pPr>
              <a:lnSpc>
                <a:spcPts val="1350"/>
              </a:lnSpc>
              <a:buNone/>
            </a:pP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};</a:t>
            </a:r>
          </a:p>
          <a:p>
            <a:pPr>
              <a:lnSpc>
                <a:spcPts val="1350"/>
              </a:lnSpc>
              <a:buNone/>
            </a:pPr>
            <a:endParaRPr lang="it-IT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it-IT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it-IT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makeAnimalSpeak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it-IT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animal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 { </a:t>
            </a:r>
            <a:r>
              <a:rPr lang="it-IT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animal</a:t>
            </a:r>
            <a:r>
              <a:rPr lang="it-IT" b="0" dirty="0" err="1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speak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(); }</a:t>
            </a:r>
          </a:p>
          <a:p>
            <a:pPr>
              <a:lnSpc>
                <a:spcPts val="1350"/>
              </a:lnSpc>
              <a:buNone/>
            </a:pPr>
            <a:endParaRPr lang="it-IT" dirty="0"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 </a:t>
            </a:r>
          </a:p>
          <a:p>
            <a:pPr>
              <a:lnSpc>
                <a:spcPts val="1350"/>
              </a:lnSpc>
              <a:buNone/>
            </a:pP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makeAnimalSpeak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it-IT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dog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 </a:t>
            </a:r>
            <a:r>
              <a:rPr lang="it-IT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"Dog </a:t>
            </a:r>
            <a:r>
              <a:rPr lang="it-IT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barks</a:t>
            </a:r>
            <a:r>
              <a:rPr lang="it-IT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"</a:t>
            </a:r>
            <a:endParaRPr lang="it-IT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makeAnimalSpeak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it-IT" b="0" dirty="0" err="1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cat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 </a:t>
            </a:r>
            <a:r>
              <a:rPr lang="it-IT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"</a:t>
            </a:r>
            <a:r>
              <a:rPr lang="it-IT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Cat</a:t>
            </a:r>
            <a:r>
              <a:rPr lang="it-IT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it-IT" b="0" dirty="0" err="1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meows</a:t>
            </a:r>
            <a:r>
              <a:rPr lang="it-IT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"</a:t>
            </a:r>
            <a:endParaRPr lang="it-IT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it-IT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makeAnimalSpeak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it-IT" b="0" dirty="0" err="1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bird</a:t>
            </a:r>
            <a:r>
              <a:rPr lang="it-IT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); </a:t>
            </a:r>
            <a:r>
              <a:rPr lang="it-IT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"Bird chirps" </a:t>
            </a:r>
            <a:endParaRPr lang="it-IT" b="0" dirty="0">
              <a:solidFill>
                <a:srgbClr val="000000"/>
              </a:solidFill>
              <a:effectLst/>
              <a:latin typeface="Menlo" panose="020B0609030804020204" pitchFamily="49" charset="0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4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Programming Paradigms (1)</a:t>
            </a:r>
            <a:endParaRPr dirty="0"/>
          </a:p>
        </p:txBody>
      </p:sp>
      <p:sp>
        <p:nvSpPr>
          <p:cNvPr id="227" name="Google Shape;227;p34"/>
          <p:cNvSpPr txBox="1">
            <a:spLocks noGrp="1"/>
          </p:cNvSpPr>
          <p:nvPr>
            <p:ph type="body" idx="1"/>
          </p:nvPr>
        </p:nvSpPr>
        <p:spPr>
          <a:xfrm>
            <a:off x="293550" y="1376262"/>
            <a:ext cx="8818500" cy="475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Procedural Programming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based upon the concept of the </a:t>
            </a:r>
            <a:r>
              <a:rPr lang="en-GB" b="1" dirty="0"/>
              <a:t>procedure call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simply contain a series of computational steps to be carried out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 language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sz="1000" dirty="0"/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00FF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function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sumOfEvenSquares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  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8000"/>
                </a:solidFill>
                <a:latin typeface="Menlo" panose="020B0609030804020204" pitchFamily="49" charset="0"/>
              </a:rPr>
              <a:t>	 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Loop through the array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  for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length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++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     // Check if the number is even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     if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===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        // Add the square of the even number to the sum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 	        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**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     }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  }</a:t>
            </a:r>
            <a:endParaRPr lang="en-GB" sz="1000" b="0" dirty="0">
              <a:solidFill>
                <a:srgbClr val="AF00D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AF00DB"/>
                </a:solidFill>
                <a:latin typeface="Menlo" panose="020B0609030804020204" pitchFamily="49" charset="0"/>
              </a:rPr>
              <a:t>  	  </a:t>
            </a: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return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3B3B3B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}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3B3B3B"/>
                </a:solidFill>
                <a:latin typeface="Menlo" panose="020B0609030804020204" pitchFamily="49" charset="0"/>
              </a:rPr>
              <a:t>	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[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4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5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6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3B3B3B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sumOfEvenSquares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Output: 56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120650" indent="0">
              <a:lnSpc>
                <a:spcPts val="1350"/>
              </a:lnSpc>
              <a:buNone/>
            </a:pP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>
          <a:extLst>
            <a:ext uri="{FF2B5EF4-FFF2-40B4-BE49-F238E27FC236}">
              <a16:creationId xmlns:a16="http://schemas.microsoft.com/office/drawing/2014/main" id="{BEA3EE2C-52C1-80D4-8177-BF5425D94D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4">
            <a:extLst>
              <a:ext uri="{FF2B5EF4-FFF2-40B4-BE49-F238E27FC236}">
                <a16:creationId xmlns:a16="http://schemas.microsoft.com/office/drawing/2014/main" id="{2A1C5493-1745-75C1-D969-8BC2B26DFF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Programming Paradigms (2)</a:t>
            </a:r>
            <a:endParaRPr dirty="0"/>
          </a:p>
        </p:txBody>
      </p:sp>
      <p:sp>
        <p:nvSpPr>
          <p:cNvPr id="227" name="Google Shape;227;p34">
            <a:extLst>
              <a:ext uri="{FF2B5EF4-FFF2-40B4-BE49-F238E27FC236}">
                <a16:creationId xmlns:a16="http://schemas.microsoft.com/office/drawing/2014/main" id="{974C5212-D400-2678-AE18-AC9890CF2C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223861"/>
            <a:ext cx="8818500" cy="52129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Object Oriented Programming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based on the concept of </a:t>
            </a:r>
            <a:r>
              <a:rPr lang="en-GB" b="1" dirty="0"/>
              <a:t>objects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contains data (attributes) and procedures (methods)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C++, Java, C# languages</a:t>
            </a:r>
          </a:p>
          <a:p>
            <a:pPr>
              <a:lnSpc>
                <a:spcPts val="1350"/>
              </a:lnSpc>
              <a:buNone/>
            </a:pPr>
            <a:endParaRPr lang="en-GB" sz="10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00FF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class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267F99"/>
                </a:solidFill>
                <a:effectLst/>
                <a:latin typeface="Menlo" panose="020B0609030804020204" pitchFamily="49" charset="0"/>
              </a:rPr>
              <a:t>EvenSquaresCalculator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  constructor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    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  }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	  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sumOfEvenSquares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    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    // Loop through the array of numbers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    for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of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this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      // Check if the number is even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      if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===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	        // Add the square of the even number to the sum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        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**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	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      }	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    }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    return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  }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}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</a:t>
            </a:r>
            <a:b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</a:b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calculator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new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267F99"/>
                </a:solidFill>
                <a:effectLst/>
                <a:latin typeface="Menlo" panose="020B0609030804020204" pitchFamily="49" charset="0"/>
              </a:rPr>
              <a:t>EvenSquaresCalculator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([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4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5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6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]);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3B3B3B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 err="1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calculator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sumOfEvenSquares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());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Output: 56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094408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>
          <a:extLst>
            <a:ext uri="{FF2B5EF4-FFF2-40B4-BE49-F238E27FC236}">
              <a16:creationId xmlns:a16="http://schemas.microsoft.com/office/drawing/2014/main" id="{E363D73B-E2FB-CE9F-A14C-397C80E46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4">
            <a:extLst>
              <a:ext uri="{FF2B5EF4-FFF2-40B4-BE49-F238E27FC236}">
                <a16:creationId xmlns:a16="http://schemas.microsoft.com/office/drawing/2014/main" id="{858A88E4-4759-3B9E-0448-D78C0DFCE32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Programming Paradigms (3)</a:t>
            </a:r>
            <a:endParaRPr dirty="0"/>
          </a:p>
        </p:txBody>
      </p:sp>
      <p:sp>
        <p:nvSpPr>
          <p:cNvPr id="227" name="Google Shape;227;p34">
            <a:extLst>
              <a:ext uri="{FF2B5EF4-FFF2-40B4-BE49-F238E27FC236}">
                <a16:creationId xmlns:a16="http://schemas.microsoft.com/office/drawing/2014/main" id="{7F003B01-656F-1311-C537-549760D2ED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1052550"/>
            <a:ext cx="8520600" cy="5233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Functional Programming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treats computation as the </a:t>
            </a:r>
            <a:r>
              <a:rPr lang="en-GB" b="1" dirty="0"/>
              <a:t>evaluation of mathematical functions</a:t>
            </a:r>
            <a:r>
              <a:rPr lang="en-GB" dirty="0"/>
              <a:t> 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avoiding changing-state and mutable data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it emphasizes the </a:t>
            </a:r>
            <a:r>
              <a:rPr lang="en-GB" b="1" dirty="0"/>
              <a:t>application of functions</a:t>
            </a:r>
            <a:r>
              <a:rPr lang="en-GB" dirty="0"/>
              <a:t>, in contrast to the changes in state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Scala, F#, JS</a:t>
            </a:r>
            <a:endParaRPr lang="en-GB" sz="10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GB" sz="10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00FF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sumOfEvenSquares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=&gt;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.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filter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=&gt;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===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Get even numbers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.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map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=&gt;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**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Square each even number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.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reduce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((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acc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=&gt;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acc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Sum the squares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endParaRPr lang="en-GB" sz="10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00FF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 err="1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const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[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4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5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6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3B3B3B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sumOfEvenSquares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70C1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));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Output: 56</a:t>
            </a:r>
            <a:endParaRPr lang="en-IT" dirty="0"/>
          </a:p>
          <a:p>
            <a:pPr marL="457200" lvl="0" indent="-336550" algn="l" rtl="0">
              <a:spcBef>
                <a:spcPts val="160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 general: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Procedural approach is useful for small scripts where we just need to process data in a linear fashion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OOP shines in scenarios that require modelling complex entities and behaviours, particularly when dealing with large-scale applications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Functional programming is ideal for cases that require high levels of concurrency, easy testing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479044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5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Programming styles (1)</a:t>
            </a:r>
            <a:endParaRPr dirty="0"/>
          </a:p>
        </p:txBody>
      </p:sp>
      <p:sp>
        <p:nvSpPr>
          <p:cNvPr id="234" name="Google Shape;234;p35"/>
          <p:cNvSpPr txBox="1">
            <a:spLocks noGrp="1"/>
          </p:cNvSpPr>
          <p:nvPr>
            <p:ph type="body" idx="1"/>
          </p:nvPr>
        </p:nvSpPr>
        <p:spPr>
          <a:xfrm>
            <a:off x="162750" y="1259625"/>
            <a:ext cx="8818500" cy="50522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Imperative Pattern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Focuses on describing </a:t>
            </a:r>
            <a:r>
              <a:rPr lang="en-GB" b="1" dirty="0"/>
              <a:t>how a program operates</a:t>
            </a:r>
            <a:endParaRPr lang="en-GB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Explicitly describing the steps needed to perform a task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Consists of commands for the computer to perform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sz="1000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lang="en-GB" sz="1000" dirty="0"/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[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4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5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6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</a:t>
            </a:r>
          </a:p>
          <a:p>
            <a:pPr>
              <a:lnSpc>
                <a:spcPts val="1350"/>
              </a:lnSpc>
              <a:buNone/>
            </a:pPr>
            <a:b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</a:b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</a:t>
            </a: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for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&lt;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length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;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++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AF00DB"/>
                </a:solidFill>
                <a:effectLst/>
                <a:latin typeface="Menlo" panose="020B0609030804020204" pitchFamily="49" charset="0"/>
              </a:rPr>
              <a:t>		   if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===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{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  		      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[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i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   }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}</a:t>
            </a:r>
            <a:endParaRPr lang="en-GB" sz="10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pPr marL="120650" indent="0"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	</a:t>
            </a:r>
          </a:p>
          <a:p>
            <a:pPr marL="120650" indent="0">
              <a:lnSpc>
                <a:spcPts val="1350"/>
              </a:lnSpc>
              <a:buNone/>
            </a:pPr>
            <a:r>
              <a:rPr lang="en-GB" sz="1000" dirty="0">
                <a:solidFill>
                  <a:srgbClr val="001080"/>
                </a:solidFill>
                <a:latin typeface="Menlo" panose="020B0609030804020204" pitchFamily="49" charset="0"/>
              </a:rPr>
              <a:t>	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Output: 12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indent="-323850">
              <a:buSzPts val="1500"/>
              <a:buChar char="○"/>
            </a:pPr>
            <a:endParaRPr lang="en-GB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2">
          <a:extLst>
            <a:ext uri="{FF2B5EF4-FFF2-40B4-BE49-F238E27FC236}">
              <a16:creationId xmlns:a16="http://schemas.microsoft.com/office/drawing/2014/main" id="{3890B26E-5839-0BCD-D0F0-F658ADA68A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5">
            <a:extLst>
              <a:ext uri="{FF2B5EF4-FFF2-40B4-BE49-F238E27FC236}">
                <a16:creationId xmlns:a16="http://schemas.microsoft.com/office/drawing/2014/main" id="{C46F744C-F865-63A0-CB0A-036E4ECF41D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Programming styles (2)</a:t>
            </a:r>
            <a:endParaRPr dirty="0"/>
          </a:p>
        </p:txBody>
      </p:sp>
      <p:sp>
        <p:nvSpPr>
          <p:cNvPr id="234" name="Google Shape;234;p35">
            <a:extLst>
              <a:ext uri="{FF2B5EF4-FFF2-40B4-BE49-F238E27FC236}">
                <a16:creationId xmlns:a16="http://schemas.microsoft.com/office/drawing/2014/main" id="{EE072F69-7826-CB32-3EC0-E460C18129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212100" y="1043725"/>
            <a:ext cx="8818500" cy="539304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Declarative Pattern</a:t>
            </a:r>
            <a:r>
              <a:rPr lang="en-GB" dirty="0"/>
              <a:t> 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focuses on </a:t>
            </a:r>
            <a:r>
              <a:rPr lang="en-GB" b="1" dirty="0"/>
              <a:t>what the program should accomplish</a:t>
            </a:r>
            <a:r>
              <a:rPr lang="en-GB" dirty="0"/>
              <a:t> 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describing what we want to achieve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without specifying how the program should achieve the result</a:t>
            </a:r>
            <a:endParaRPr dirty="0"/>
          </a:p>
          <a:p>
            <a:pPr>
              <a:lnSpc>
                <a:spcPts val="1350"/>
              </a:lnSpc>
              <a:buNone/>
            </a:pPr>
            <a:endParaRPr lang="en-GB" sz="1000" b="0" dirty="0">
              <a:solidFill>
                <a:srgbClr val="0000FF"/>
              </a:solidFill>
              <a:effectLst/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0000FF"/>
                </a:solidFill>
                <a:latin typeface="Menlo" panose="020B0609030804020204" pitchFamily="49" charset="0"/>
              </a:rPr>
              <a:t>		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[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1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3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4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5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6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];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		let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numbers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filter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=&gt;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%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2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===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</a:t>
            </a: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	.</a:t>
            </a:r>
            <a:r>
              <a:rPr lang="en-GB" sz="1000" b="0" dirty="0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reduce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((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acc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 </a:t>
            </a:r>
            <a:r>
              <a:rPr lang="en-GB" sz="1000" b="0" dirty="0">
                <a:solidFill>
                  <a:srgbClr val="0000FF"/>
                </a:solidFill>
                <a:effectLst/>
                <a:latin typeface="Menlo" panose="020B0609030804020204" pitchFamily="49" charset="0"/>
              </a:rPr>
              <a:t>=&gt;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acc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>
                <a:solidFill>
                  <a:srgbClr val="000000"/>
                </a:solidFill>
                <a:effectLst/>
                <a:latin typeface="Menlo" panose="020B0609030804020204" pitchFamily="49" charset="0"/>
              </a:rPr>
              <a:t>+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 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num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, </a:t>
            </a:r>
            <a:r>
              <a:rPr lang="en-GB" sz="1000" b="0" dirty="0">
                <a:solidFill>
                  <a:srgbClr val="098658"/>
                </a:solidFill>
                <a:effectLst/>
                <a:latin typeface="Menlo" panose="020B0609030804020204" pitchFamily="49" charset="0"/>
              </a:rPr>
              <a:t>0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</a:t>
            </a:r>
            <a:endParaRPr lang="en-GB" sz="1000" dirty="0">
              <a:solidFill>
                <a:srgbClr val="3B3B3B"/>
              </a:solidFill>
              <a:latin typeface="Menlo" panose="020B0609030804020204" pitchFamily="49" charset="0"/>
            </a:endParaRPr>
          </a:p>
          <a:p>
            <a:pPr>
              <a:lnSpc>
                <a:spcPts val="1350"/>
              </a:lnSpc>
              <a:buNone/>
            </a:pP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		</a:t>
            </a:r>
          </a:p>
          <a:p>
            <a:pPr>
              <a:lnSpc>
                <a:spcPts val="1350"/>
              </a:lnSpc>
              <a:buNone/>
            </a:pPr>
            <a:r>
              <a:rPr lang="en-GB" sz="1000" dirty="0">
                <a:solidFill>
                  <a:srgbClr val="3B3B3B"/>
                </a:solidFill>
                <a:latin typeface="Menlo" panose="020B0609030804020204" pitchFamily="49" charset="0"/>
              </a:rPr>
              <a:t>		</a:t>
            </a:r>
            <a:r>
              <a:rPr lang="en-GB" sz="1000" b="0" dirty="0" err="1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console</a:t>
            </a:r>
            <a:r>
              <a:rPr lang="en-GB" sz="1000" b="0" dirty="0" err="1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.</a:t>
            </a:r>
            <a:r>
              <a:rPr lang="en-GB" sz="1000" b="0" dirty="0" err="1">
                <a:solidFill>
                  <a:srgbClr val="795E26"/>
                </a:solidFill>
                <a:effectLst/>
                <a:latin typeface="Menlo" panose="020B0609030804020204" pitchFamily="49" charset="0"/>
              </a:rPr>
              <a:t>log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(</a:t>
            </a:r>
            <a:r>
              <a:rPr lang="en-GB" sz="1000" b="0" dirty="0">
                <a:solidFill>
                  <a:srgbClr val="001080"/>
                </a:solidFill>
                <a:effectLst/>
                <a:latin typeface="Menlo" panose="020B0609030804020204" pitchFamily="49" charset="0"/>
              </a:rPr>
              <a:t>sum</a:t>
            </a:r>
            <a:r>
              <a:rPr lang="en-GB" sz="1000" b="0" dirty="0">
                <a:solidFill>
                  <a:srgbClr val="3B3B3B"/>
                </a:solidFill>
                <a:effectLst/>
                <a:latin typeface="Menlo" panose="020B0609030804020204" pitchFamily="49" charset="0"/>
              </a:rPr>
              <a:t>); </a:t>
            </a:r>
            <a:r>
              <a:rPr lang="en-GB" sz="1000" b="0" dirty="0">
                <a:solidFill>
                  <a:srgbClr val="008000"/>
                </a:solidFill>
                <a:effectLst/>
                <a:latin typeface="Menlo" panose="020B0609030804020204" pitchFamily="49" charset="0"/>
              </a:rPr>
              <a:t>// Output: 12</a:t>
            </a:r>
            <a:endParaRPr lang="en-GB" sz="1000" b="0" dirty="0">
              <a:solidFill>
                <a:srgbClr val="3B3B3B"/>
              </a:solidFill>
              <a:effectLst/>
              <a:latin typeface="Menlo" panose="020B0609030804020204" pitchFamily="49" charset="0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it-IT"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IT"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sz="10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In JavaScript, all paradigms and styles can be used together, depending on the needs of the application and the preferences of the developer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Data handling and transformations in a functional style</a:t>
            </a:r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Logic for user interfaces and complex behaviours in an object-oriented manner</a:t>
            </a:r>
          </a:p>
          <a:p>
            <a:pPr marL="0" marR="0" lvl="0" indent="4572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endParaRPr lang="en-GB" sz="900" dirty="0">
              <a:solidFill>
                <a:srgbClr val="000000"/>
              </a:solidFill>
              <a:highlight>
                <a:srgbClr val="FFFFFF"/>
              </a:highlight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Let's </a:t>
            </a:r>
            <a:r>
              <a:rPr lang="en-GB" dirty="0" err="1"/>
              <a:t>considere</a:t>
            </a:r>
            <a:r>
              <a:rPr lang="en-GB" dirty="0"/>
              <a:t> an example to compere the two styles (see 02.declatative_imperative.js)</a:t>
            </a:r>
          </a:p>
        </p:txBody>
      </p:sp>
    </p:spTree>
    <p:extLst>
      <p:ext uri="{BB962C8B-B14F-4D97-AF65-F5344CB8AC3E}">
        <p14:creationId xmlns:p14="http://schemas.microsoft.com/office/powerpoint/2010/main" val="7552554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6"/>
          <p:cNvSpPr txBox="1">
            <a:spLocks noGrp="1"/>
          </p:cNvSpPr>
          <p:nvPr>
            <p:ph type="title"/>
          </p:nvPr>
        </p:nvSpPr>
        <p:spPr>
          <a:xfrm>
            <a:off x="311700" y="421233"/>
            <a:ext cx="8520600" cy="622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Javascript: more...</a:t>
            </a:r>
            <a:endParaRPr/>
          </a:p>
        </p:txBody>
      </p:sp>
      <p:sp>
        <p:nvSpPr>
          <p:cNvPr id="240" name="Google Shape;240;p36"/>
          <p:cNvSpPr txBox="1">
            <a:spLocks noGrp="1"/>
          </p:cNvSpPr>
          <p:nvPr>
            <p:ph type="body" idx="1"/>
          </p:nvPr>
        </p:nvSpPr>
        <p:spPr>
          <a:xfrm>
            <a:off x="202700" y="1104350"/>
            <a:ext cx="8818500" cy="511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Regular Expressions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Talking with the Browser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HTML tag &lt;script&gt;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DOM (Document Object Model)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b="1" dirty="0"/>
              <a:t>Handling events (we introduce it with NodeJS)</a:t>
            </a:r>
            <a:endParaRPr b="1"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 err="1"/>
              <a:t>EventListener</a:t>
            </a:r>
            <a:r>
              <a:rPr lang="en-GB" dirty="0"/>
              <a:t>, events (</a:t>
            </a:r>
            <a:r>
              <a:rPr lang="en-GB" dirty="0" err="1"/>
              <a:t>keydown</a:t>
            </a:r>
            <a:r>
              <a:rPr lang="en-GB" dirty="0"/>
              <a:t>, </a:t>
            </a:r>
            <a:r>
              <a:rPr lang="en-GB" dirty="0" err="1"/>
              <a:t>keyup</a:t>
            </a:r>
            <a:r>
              <a:rPr lang="en-GB" dirty="0"/>
              <a:t>, click, </a:t>
            </a:r>
            <a:r>
              <a:rPr lang="en-GB" dirty="0" err="1"/>
              <a:t>mousedown</a:t>
            </a:r>
            <a:r>
              <a:rPr lang="en-GB" dirty="0"/>
              <a:t>, etc.)</a:t>
            </a:r>
            <a:endParaRPr dirty="0"/>
          </a:p>
          <a:p>
            <a:pPr marL="914400" lvl="1" indent="-323850" algn="l" rtl="0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-GB" dirty="0"/>
              <a:t>Timers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Forms</a:t>
            </a:r>
            <a:endParaRPr dirty="0"/>
          </a:p>
          <a:p>
            <a:pPr marL="457200" lvl="0" indent="-336550" algn="l" rtl="0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-GB" dirty="0"/>
              <a:t>...</a:t>
            </a:r>
            <a:endParaRPr dirty="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607D8B"/>
      </a:accent3>
      <a:accent4>
        <a:srgbClr val="78909C"/>
      </a:accent4>
      <a:accent5>
        <a:srgbClr val="57BB8A"/>
      </a:accent5>
      <a:accent6>
        <a:srgbClr val="DCE755"/>
      </a:accent6>
      <a:hlink>
        <a:srgbClr val="57BB8A"/>
      </a:hlink>
      <a:folHlink>
        <a:srgbClr val="57BB8A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9b5433c-2372-4cb7-8bab-09518096b29b" xsi:nil="true"/>
    <lcf76f155ced4ddcb4097134ff3c332f xmlns="3bd0d43f-5e5b-43cd-b6fc-691bd77672c6">
      <Terms xmlns="http://schemas.microsoft.com/office/infopath/2007/PartnerControls"/>
    </lcf76f155ced4ddcb4097134ff3c332f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B8FA822B18A0634FB7342CF29752587A" ma:contentTypeVersion="13" ma:contentTypeDescription="Creare un nuovo documento." ma:contentTypeScope="" ma:versionID="5c5a1a1f66437ceed8e2102d49525b77">
  <xsd:schema xmlns:xsd="http://www.w3.org/2001/XMLSchema" xmlns:xs="http://www.w3.org/2001/XMLSchema" xmlns:p="http://schemas.microsoft.com/office/2006/metadata/properties" xmlns:ns2="3bd0d43f-5e5b-43cd-b6fc-691bd77672c6" xmlns:ns3="e9b5433c-2372-4cb7-8bab-09518096b29b" targetNamespace="http://schemas.microsoft.com/office/2006/metadata/properties" ma:root="true" ma:fieldsID="79bbaae61552c66980d55f32a6cab4b6" ns2:_="" ns3:_="">
    <xsd:import namespace="3bd0d43f-5e5b-43cd-b6fc-691bd77672c6"/>
    <xsd:import namespace="e9b5433c-2372-4cb7-8bab-09518096b29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bd0d43f-5e5b-43cd-b6fc-691bd77672c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Tag immagine" ma:readOnly="false" ma:fieldId="{5cf76f15-5ced-4ddc-b409-7134ff3c332f}" ma:taxonomyMulti="true" ma:sspId="b3f316dc-fb4b-4146-8b22-f4ef2efe4b0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b5433c-2372-4cb7-8bab-09518096b29b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c4bbe8c-9a55-4d5f-b385-d948ddfe6c4d}" ma:internalName="TaxCatchAll" ma:showField="CatchAllData" ma:web="e9b5433c-2372-4cb7-8bab-09518096b29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i contenuto"/>
        <xsd:element ref="dc:title" minOccurs="0" maxOccurs="1" ma:index="4" ma:displayName="Tito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93D79986-1EC9-4377-8170-A0618606B19E}">
  <ds:schemaRefs>
    <ds:schemaRef ds:uri="http://www.w3.org/XML/1998/namespace"/>
    <ds:schemaRef ds:uri="http://schemas.openxmlformats.org/package/2006/metadata/core-properties"/>
    <ds:schemaRef ds:uri="e9b5433c-2372-4cb7-8bab-09518096b29b"/>
    <ds:schemaRef ds:uri="http://purl.org/dc/terms/"/>
    <ds:schemaRef ds:uri="http://purl.org/dc/dcmitype/"/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3bd0d43f-5e5b-43cd-b6fc-691bd77672c6"/>
  </ds:schemaRefs>
</ds:datastoreItem>
</file>

<file path=customXml/itemProps2.xml><?xml version="1.0" encoding="utf-8"?>
<ds:datastoreItem xmlns:ds="http://schemas.openxmlformats.org/officeDocument/2006/customXml" ds:itemID="{8B33E020-D3E2-4BE8-A440-834CD22BCCC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CBAEB8B-257A-4542-BBC4-7AEAAEEB667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bd0d43f-5e5b-43cd-b6fc-691bd77672c6"/>
    <ds:schemaRef ds:uri="e9b5433c-2372-4cb7-8bab-09518096b2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2573</TotalTime>
  <Words>4595</Words>
  <Application>Microsoft Macintosh PowerPoint</Application>
  <PresentationFormat>Presentazione su schermo (4:3)</PresentationFormat>
  <Paragraphs>593</Paragraphs>
  <Slides>29</Slides>
  <Notes>29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5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29</vt:i4>
      </vt:variant>
    </vt:vector>
  </HeadingPairs>
  <TitlesOfParts>
    <vt:vector size="35" baseType="lpstr">
      <vt:lpstr>Courier New</vt:lpstr>
      <vt:lpstr>Menlo</vt:lpstr>
      <vt:lpstr>Arial</vt:lpstr>
      <vt:lpstr>Economica</vt:lpstr>
      <vt:lpstr>Open Sans</vt:lpstr>
      <vt:lpstr>Luxe</vt:lpstr>
      <vt:lpstr>JavaScript</vt:lpstr>
      <vt:lpstr>Introduction</vt:lpstr>
      <vt:lpstr>Variables and functions</vt:lpstr>
      <vt:lpstr>Lambda and Arrow Functions</vt:lpstr>
      <vt:lpstr>Equality</vt:lpstr>
      <vt:lpstr>Const, let and var</vt:lpstr>
      <vt:lpstr>Array</vt:lpstr>
      <vt:lpstr>Strings</vt:lpstr>
      <vt:lpstr>Pass-by-value or pass-by-reference?</vt:lpstr>
      <vt:lpstr>Optional args and Recursion</vt:lpstr>
      <vt:lpstr>Error Handling</vt:lpstr>
      <vt:lpstr>Modules</vt:lpstr>
      <vt:lpstr>Code Examples (1)</vt:lpstr>
      <vt:lpstr>Code Examples (2)</vt:lpstr>
      <vt:lpstr>Functional Programming (1)</vt:lpstr>
      <vt:lpstr>Functional Programming (2)</vt:lpstr>
      <vt:lpstr>Functional Programming (3)</vt:lpstr>
      <vt:lpstr>Functional Programming (4)</vt:lpstr>
      <vt:lpstr>Object Oriented Programming (1)</vt:lpstr>
      <vt:lpstr>Object Oriented Programming (2)</vt:lpstr>
      <vt:lpstr>Object Oriented Programming (3)</vt:lpstr>
      <vt:lpstr>Object Oriented Programming (3)</vt:lpstr>
      <vt:lpstr>Object Oriented Programming (4)</vt:lpstr>
      <vt:lpstr>Programming Paradigms (1)</vt:lpstr>
      <vt:lpstr>Programming Paradigms (2)</vt:lpstr>
      <vt:lpstr>Programming Paradigms (3)</vt:lpstr>
      <vt:lpstr>Programming styles (1)</vt:lpstr>
      <vt:lpstr>Programming styles (2)</vt:lpstr>
      <vt:lpstr>Javascript: more...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JavaScript</dc:title>
  <cp:lastModifiedBy>Riccardo Berta</cp:lastModifiedBy>
  <cp:revision>12</cp:revision>
  <dcterms:modified xsi:type="dcterms:W3CDTF">2026-04-15T13:37:36Z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0x010100B8FA822B18A0634FB7342CF29752587A</vt:lpwstr>
  </property>
</Properties>
</file>