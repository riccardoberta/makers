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05c65a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305c65a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ed67b45a9480b76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ed67b45a9480b76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ed67b45a9480b76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ed67b45a9480b76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d67b45a9480b76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d67b45a9480b76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7e4816b7264245d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7e4816b7264245d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e4816b7264245d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e4816b7264245d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7e4816b7264245d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7e4816b7264245d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317e8c82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317e8c82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17e8c8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317e8c8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Submission/wot-model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ioCbTo3C-4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son-ld.org/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earch.google.com/structured-data/testing-tool" TargetMode="External"/><Relationship Id="rId5" Type="http://schemas.openxmlformats.org/officeDocument/2006/relationships/hyperlink" Target="http://schema.org/" TargetMode="External"/><Relationship Id="rId4" Type="http://schemas.openxmlformats.org/officeDocument/2006/relationships/hyperlink" Target="https://www.w3.org/TR/json-ld11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5stardata.info/e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Interoperability and Semantic</a:t>
            </a:r>
            <a:endParaRPr/>
          </a:p>
        </p:txBody>
      </p:sp>
      <p:grpSp>
        <p:nvGrpSpPr>
          <p:cNvPr id="66" name="Google Shape;66;p13"/>
          <p:cNvGrpSpPr/>
          <p:nvPr/>
        </p:nvGrpSpPr>
        <p:grpSpPr>
          <a:xfrm>
            <a:off x="4991502" y="202216"/>
            <a:ext cx="3988156" cy="1681357"/>
            <a:chOff x="596595" y="1681625"/>
            <a:chExt cx="7590704" cy="3377576"/>
          </a:xfrm>
        </p:grpSpPr>
        <p:pic>
          <p:nvPicPr>
            <p:cNvPr id="67" name="Google Shape;67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13500" y="3485357"/>
              <a:ext cx="1051800" cy="7152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13"/>
            <p:cNvSpPr/>
            <p:nvPr/>
          </p:nvSpPr>
          <p:spPr>
            <a:xfrm>
              <a:off x="1929869" y="3438494"/>
              <a:ext cx="2529576" cy="1548504"/>
            </a:xfrm>
            <a:prstGeom prst="cloud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9" name="Google Shape;69;p13"/>
            <p:cNvCxnSpPr>
              <a:stCxn id="70" idx="3"/>
            </p:cNvCxnSpPr>
            <p:nvPr/>
          </p:nvCxnSpPr>
          <p:spPr>
            <a:xfrm>
              <a:off x="1937776" y="3426272"/>
              <a:ext cx="427200" cy="2379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0" name="Google Shape;7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6595" y="2978971"/>
              <a:ext cx="1341180" cy="89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369970" y="1681625"/>
              <a:ext cx="921151" cy="7724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2" name="Google Shape;72;p13"/>
            <p:cNvCxnSpPr>
              <a:stCxn id="71" idx="2"/>
              <a:endCxn id="68" idx="3"/>
            </p:cNvCxnSpPr>
            <p:nvPr/>
          </p:nvCxnSpPr>
          <p:spPr>
            <a:xfrm>
              <a:off x="2830546" y="2454075"/>
              <a:ext cx="364200" cy="1073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3" name="Google Shape;73;p13"/>
            <p:cNvPicPr preferRelativeResize="0"/>
            <p:nvPr/>
          </p:nvPicPr>
          <p:blipFill rotWithShape="1">
            <a:blip r:embed="rId6">
              <a:alphaModFix/>
            </a:blip>
            <a:srcRect l="7526" t="9500" r="8376" b="35009"/>
            <a:stretch/>
          </p:blipFill>
          <p:spPr>
            <a:xfrm rot="5400000">
              <a:off x="6395675" y="3267576"/>
              <a:ext cx="2271976" cy="1311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085380" y="3787000"/>
              <a:ext cx="504057" cy="325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5" name="Google Shape;75;p13"/>
            <p:cNvCxnSpPr/>
            <p:nvPr/>
          </p:nvCxnSpPr>
          <p:spPr>
            <a:xfrm>
              <a:off x="4459430" y="3920656"/>
              <a:ext cx="254100" cy="5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" name="Google Shape;76;p13"/>
            <p:cNvCxnSpPr/>
            <p:nvPr/>
          </p:nvCxnSpPr>
          <p:spPr>
            <a:xfrm>
              <a:off x="5765300" y="3919166"/>
              <a:ext cx="365400" cy="8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7;p13"/>
            <p:cNvCxnSpPr>
              <a:stCxn id="74" idx="3"/>
              <a:endCxn id="74" idx="3"/>
            </p:cNvCxnSpPr>
            <p:nvPr/>
          </p:nvCxnSpPr>
          <p:spPr>
            <a:xfrm>
              <a:off x="6589437" y="3949600"/>
              <a:ext cx="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3"/>
            <p:cNvCxnSpPr>
              <a:stCxn id="74" idx="3"/>
            </p:cNvCxnSpPr>
            <p:nvPr/>
          </p:nvCxnSpPr>
          <p:spPr>
            <a:xfrm>
              <a:off x="6589437" y="3949600"/>
              <a:ext cx="304200" cy="84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9" name="Google Shape;79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42954" y="3807661"/>
              <a:ext cx="1311275" cy="8154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012750" y="4200575"/>
              <a:ext cx="576750" cy="8157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" name="Google Shape;81;p13"/>
          <p:cNvSpPr/>
          <p:nvPr/>
        </p:nvSpPr>
        <p:spPr>
          <a:xfrm>
            <a:off x="5556800" y="959900"/>
            <a:ext cx="2210400" cy="7998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Findability</a:t>
            </a:r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311700" y="1192950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How do we know </a:t>
            </a:r>
            <a:r>
              <a:rPr lang="en-GB" b="1" dirty="0"/>
              <a:t>where to send the requests </a:t>
            </a:r>
            <a:r>
              <a:rPr lang="en-GB" dirty="0"/>
              <a:t>(bootstrap problem)?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root URL/resources of a Web Thing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How do we know </a:t>
            </a:r>
            <a:r>
              <a:rPr lang="en-GB" b="1" dirty="0"/>
              <a:t>what requests to send and how</a:t>
            </a:r>
            <a:r>
              <a:rPr lang="en-GB" dirty="0"/>
              <a:t>?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verbs, format of payloads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How do we know </a:t>
            </a:r>
            <a:r>
              <a:rPr lang="en-GB" b="1" dirty="0"/>
              <a:t>the meaning of the requests/responses</a:t>
            </a:r>
            <a:r>
              <a:rPr lang="en-GB" dirty="0"/>
              <a:t>?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 semantics</a:t>
            </a:r>
            <a:endParaRPr dirty="0"/>
          </a:p>
        </p:txBody>
      </p:sp>
      <p:pic>
        <p:nvPicPr>
          <p:cNvPr id="88" name="Google Shape;8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414" y="3273691"/>
            <a:ext cx="6050172" cy="316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Bootstrap Problem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244200" y="1203188"/>
            <a:ext cx="8655600" cy="52335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How the initial link between two entities can be established?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Network Discovery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once a device has an IP address (DHCP), it can then broadcast it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 err="1"/>
              <a:t>mDNS</a:t>
            </a:r>
            <a:r>
              <a:rPr lang="en-GB" dirty="0"/>
              <a:t> (multicast Domain Name System), DLNA (Digital Living Network Alliance), UPnP (Universal Plug and Play)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Smart TVs (e.g. Apple TV)  use DLNA to discover NASs (Network Attached Storage)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not directly usable from browsers, does not propagate beyond local networks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Web Discovery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WWW shifted from a catalogue of few thousand pages (early 90's) to exponentially growing collection of application, documents, multimedia content, etc.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crawling APIs as web pages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simply adding links to resources in their HTML representations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from root, crawler finds resources and creates a tree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use HTTP OPTION to expose supported verbs 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use content-negotiation to understand formats available </a:t>
            </a:r>
            <a:endParaRPr dirty="0"/>
          </a:p>
          <a:p>
            <a:pPr marL="139700" indent="0">
              <a:buSzPts val="1400"/>
              <a:buNone/>
            </a:pPr>
            <a:endParaRPr lang="en-GB"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HATEAOS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responses contain the links to other resources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 Thing Model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311700" y="1255999"/>
            <a:ext cx="8520600" cy="50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 conceptual model of a Web Thing that can describe the resources using a set of well-known concepts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an official W3C submission (2015): </a:t>
            </a:r>
            <a:r>
              <a:rPr lang="en-GB" u="sng" dirty="0">
                <a:solidFill>
                  <a:schemeClr val="hlink"/>
                </a:solidFill>
                <a:hlinkClick r:id="rId3"/>
              </a:rPr>
              <a:t>https://www.w3.org/Submission/wot-model/</a:t>
            </a:r>
            <a:r>
              <a:rPr lang="en-GB" dirty="0"/>
              <a:t>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Entities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Model</a:t>
            </a:r>
            <a:endParaRPr b="1"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a set of </a:t>
            </a:r>
            <a:r>
              <a:rPr lang="en-GB" b="1" dirty="0"/>
              <a:t>metadata</a:t>
            </a:r>
            <a:r>
              <a:rPr lang="en-GB" dirty="0"/>
              <a:t> that defines various entity aspects</a:t>
            </a:r>
            <a:endParaRPr dirty="0"/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name, description, or configurations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Properties</a:t>
            </a:r>
            <a:endParaRPr b="1"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b="1" dirty="0"/>
              <a:t>variables</a:t>
            </a:r>
            <a:r>
              <a:rPr lang="en-GB" dirty="0"/>
              <a:t> describing the internal state of the entity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clients can subscribe to properties to receive notifications on specific conditions</a:t>
            </a:r>
            <a:endParaRPr dirty="0"/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a threshold  for a temperature sensor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Actions</a:t>
            </a:r>
            <a:endParaRPr b="1"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b="1" dirty="0"/>
              <a:t>functions</a:t>
            </a:r>
            <a:r>
              <a:rPr lang="en-GB" dirty="0"/>
              <a:t> offered by the entity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clients can invoke an action to modify the thing </a:t>
            </a:r>
            <a:endParaRPr dirty="0"/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“open”, “close” for a garage door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Things</a:t>
            </a:r>
            <a:endParaRPr b="1"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list of </a:t>
            </a:r>
            <a:r>
              <a:rPr lang="en-GB" b="1" dirty="0"/>
              <a:t>other things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used when a Web Thing is a gateway to other devices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Web Thing Model</a:t>
            </a:r>
            <a:endParaRPr/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925" y="1402137"/>
            <a:ext cx="7691850" cy="453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Semantics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311700" y="1101575"/>
            <a:ext cx="8520600" cy="53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How to expose a thing so that it </a:t>
            </a:r>
            <a:r>
              <a:rPr lang="en-GB" b="1" dirty="0"/>
              <a:t>means something</a:t>
            </a:r>
            <a:r>
              <a:rPr lang="en-GB" dirty="0"/>
              <a:t> to other applications, services, and devices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Most of the data on Web pages are </a:t>
            </a:r>
            <a:r>
              <a:rPr lang="en-GB" b="1" dirty="0"/>
              <a:t>unstructured</a:t>
            </a:r>
            <a:r>
              <a:rPr lang="en-GB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difficult to understand what a page is about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a restaurant, a person, a movie, or a product?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HTML pages have only a limited ability to tell to clients what they talk about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just define a summary and a set of keywords 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Semantic Web</a:t>
            </a:r>
            <a:r>
              <a:rPr lang="en-GB" dirty="0"/>
              <a:t> and </a:t>
            </a:r>
            <a:r>
              <a:rPr lang="en-GB" b="1" dirty="0"/>
              <a:t>Linked Data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extension of the Web that promotes </a:t>
            </a:r>
            <a:r>
              <a:rPr lang="en-GB" b="1" dirty="0"/>
              <a:t>common data formats 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facilitate meaningful data exchange between machines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defined by the World Wide Web Consortium (W3C)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 simple and interesting intro: </a:t>
            </a:r>
            <a:r>
              <a:rPr lang="en-GB" u="sng" dirty="0">
                <a:solidFill>
                  <a:schemeClr val="hlink"/>
                </a:solidFill>
                <a:hlinkClick r:id="rId3"/>
              </a:rPr>
              <a:t>https://www.youtube.com/watch?v=vioCbTo3C-4</a:t>
            </a:r>
            <a:r>
              <a:rPr lang="en-GB" dirty="0"/>
              <a:t>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Resource Description Framework (RDF)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complex and heavy standard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controlled vocabularies (ontologies)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/>
              <a:t>RDFa</a:t>
            </a:r>
            <a:r>
              <a:rPr lang="en-GB" dirty="0"/>
              <a:t>: a lighter version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RDFa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311700" y="10437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Annotate content reusing (or creating) a </a:t>
            </a:r>
            <a:r>
              <a:rPr lang="en-GB" b="1" dirty="0"/>
              <a:t>vocabulary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 set of terms that can be used to annotate a HTML elements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to expose information about thing (name, description, image) we can use the “Product” vocabulary supported by Google</a:t>
            </a: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122" name="Google Shape;122;p19"/>
          <p:cNvGrpSpPr/>
          <p:nvPr/>
        </p:nvGrpSpPr>
        <p:grpSpPr>
          <a:xfrm>
            <a:off x="553534" y="2250783"/>
            <a:ext cx="6126450" cy="3942250"/>
            <a:chOff x="714201" y="2557000"/>
            <a:chExt cx="6126450" cy="3942250"/>
          </a:xfrm>
        </p:grpSpPr>
        <p:pic>
          <p:nvPicPr>
            <p:cNvPr id="123" name="Google Shape;123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4201" y="2557000"/>
              <a:ext cx="6126450" cy="394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9"/>
            <p:cNvSpPr/>
            <p:nvPr/>
          </p:nvSpPr>
          <p:spPr>
            <a:xfrm>
              <a:off x="1050525" y="2776900"/>
              <a:ext cx="525900" cy="296700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9"/>
            <p:cNvSpPr/>
            <p:nvPr/>
          </p:nvSpPr>
          <p:spPr>
            <a:xfrm>
              <a:off x="1216425" y="3981275"/>
              <a:ext cx="724200" cy="296700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2326375" y="4632675"/>
              <a:ext cx="724200" cy="296700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" name="Google Shape;127;p19"/>
          <p:cNvSpPr txBox="1"/>
          <p:nvPr/>
        </p:nvSpPr>
        <p:spPr>
          <a:xfrm>
            <a:off x="6756900" y="2383683"/>
            <a:ext cx="23871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Vocab</a:t>
            </a:r>
            <a:r>
              <a:rPr lang="en-GB"/>
              <a:t>: define the vocabulary used</a:t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5668525" y="4221908"/>
            <a:ext cx="27876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Property</a:t>
            </a:r>
            <a:r>
              <a:rPr lang="en-GB"/>
              <a:t>: defines the various fields of the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4202500" y="5645215"/>
            <a:ext cx="36333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 err="1"/>
              <a:t>Typeof</a:t>
            </a:r>
            <a:r>
              <a:rPr lang="en-GB" dirty="0"/>
              <a:t>: defines the type of those elements in relation to the vocabulary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30" name="Google Shape;130;p19"/>
          <p:cNvCxnSpPr>
            <a:cxnSpLocks/>
            <a:stCxn id="124" idx="6"/>
            <a:endCxn id="127" idx="1"/>
          </p:cNvCxnSpPr>
          <p:nvPr/>
        </p:nvCxnSpPr>
        <p:spPr>
          <a:xfrm>
            <a:off x="1415758" y="2619033"/>
            <a:ext cx="5341142" cy="2127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9"/>
          <p:cNvCxnSpPr>
            <a:stCxn id="125" idx="6"/>
            <a:endCxn id="128" idx="1"/>
          </p:cNvCxnSpPr>
          <p:nvPr/>
        </p:nvCxnSpPr>
        <p:spPr>
          <a:xfrm>
            <a:off x="1779958" y="3823408"/>
            <a:ext cx="3888567" cy="84655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19"/>
          <p:cNvCxnSpPr>
            <a:cxnSpLocks/>
            <a:stCxn id="126" idx="6"/>
          </p:cNvCxnSpPr>
          <p:nvPr/>
        </p:nvCxnSpPr>
        <p:spPr>
          <a:xfrm>
            <a:off x="2889908" y="4474808"/>
            <a:ext cx="1333613" cy="1406193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JSON-LD </a:t>
            </a:r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body" idx="1"/>
          </p:nvPr>
        </p:nvSpPr>
        <p:spPr>
          <a:xfrm>
            <a:off x="240750" y="955625"/>
            <a:ext cx="8591700" cy="56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JSON-based serialization for Linked Data (</a:t>
            </a:r>
            <a:r>
              <a:rPr lang="en-GB" u="sng" dirty="0">
                <a:solidFill>
                  <a:schemeClr val="hlink"/>
                </a:solidFill>
                <a:hlinkClick r:id="rId3"/>
              </a:rPr>
              <a:t>https://json-ld.org/</a:t>
            </a:r>
            <a:r>
              <a:rPr lang="en-GB" dirty="0"/>
              <a:t>)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augment JSON documents by adding </a:t>
            </a:r>
            <a:r>
              <a:rPr lang="en-GB" b="1" dirty="0"/>
              <a:t>context information </a:t>
            </a:r>
            <a:r>
              <a:rPr lang="en-GB" dirty="0"/>
              <a:t>and hyperlinks for describing the semantics of the different elements of a JSON objects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W3C recommendation: </a:t>
            </a:r>
            <a:r>
              <a:rPr lang="en-GB" dirty="0">
                <a:hlinkClick r:id="rId4"/>
              </a:rPr>
              <a:t>https://www.w3.org/TR/json-ld11</a:t>
            </a:r>
            <a:r>
              <a:rPr lang="en-GB" dirty="0"/>
              <a:t>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-IT" dirty="0"/>
              <a:t>MIME </a:t>
            </a:r>
            <a:r>
              <a:rPr lang="it-IT" dirty="0" err="1"/>
              <a:t>type</a:t>
            </a:r>
            <a:r>
              <a:rPr lang="it-IT" dirty="0"/>
              <a:t>: </a:t>
            </a:r>
            <a:r>
              <a:rPr lang="it-IT" b="1" dirty="0" err="1"/>
              <a:t>application</a:t>
            </a:r>
            <a:r>
              <a:rPr lang="it-IT" b="1" dirty="0"/>
              <a:t>/</a:t>
            </a:r>
            <a:r>
              <a:rPr lang="it-IT" b="1" dirty="0" err="1"/>
              <a:t>ld+json</a:t>
            </a:r>
            <a:endParaRPr lang="it-IT"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it-IT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it-IT" sz="500" dirty="0"/>
          </a:p>
          <a:p>
            <a:r>
              <a:rPr lang="en-GB" dirty="0"/>
              <a:t>Schemas: </a:t>
            </a:r>
            <a:r>
              <a:rPr lang="en-GB" u="sng" dirty="0">
                <a:solidFill>
                  <a:schemeClr val="hlink"/>
                </a:solidFill>
                <a:hlinkClick r:id="rId5"/>
              </a:rPr>
              <a:t>http://schema.org</a:t>
            </a:r>
            <a:endParaRPr lang="en-GB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GB"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Example: </a:t>
            </a:r>
          </a:p>
          <a:p>
            <a:pPr lvl="1">
              <a:spcBef>
                <a:spcPts val="0"/>
              </a:spcBef>
            </a:pPr>
            <a:r>
              <a:rPr lang="en-GB" dirty="0"/>
              <a:t>use “Product” schema to add some semantic data to our thing</a:t>
            </a:r>
          </a:p>
          <a:p>
            <a:pPr lvl="2">
              <a:spcBef>
                <a:spcPts val="0"/>
              </a:spcBef>
            </a:pPr>
            <a:r>
              <a:rPr lang="en-GB" dirty="0"/>
              <a:t>clients that understand the schema will be able to automatically process information in a meaningful way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use “Place” schema to add location information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 dirty="0"/>
              <a:t>more semantic data we add the more findable it will become!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it-IT" sz="500" u="sng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-IT" u="sng" dirty="0">
                <a:solidFill>
                  <a:schemeClr val="hlink"/>
                </a:solidFill>
                <a:hlinkClick r:id="rId6"/>
              </a:rPr>
              <a:t>Https://search.google.com/structured-data/testing-tool</a:t>
            </a:r>
            <a:r>
              <a:rPr lang="it-IT" u="sng" dirty="0"/>
              <a:t> </a:t>
            </a:r>
          </a:p>
          <a:p>
            <a:pPr lvl="1">
              <a:spcBef>
                <a:spcPts val="0"/>
              </a:spcBef>
            </a:pPr>
            <a:r>
              <a:rPr lang="en-GB" dirty="0"/>
              <a:t>e.g. search engines: Google process JSON-LD payloads using the Product </a:t>
            </a:r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0533" y="2429737"/>
            <a:ext cx="6381604" cy="1223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Data</a:t>
            </a:r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body" idx="1"/>
          </p:nvPr>
        </p:nvSpPr>
        <p:spPr>
          <a:xfrm>
            <a:off x="311700" y="1043723"/>
            <a:ext cx="8520600" cy="5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Non proprietary format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Machine readable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Easy to access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Easy to use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Reusable without restrictive license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No cost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5-star open data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No star </a:t>
            </a:r>
            <a:r>
              <a:rPr lang="en-GB" dirty="0"/>
              <a:t>- data is not available under an open licence, even if it is available on-line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-GB" sz="500"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One star</a:t>
            </a:r>
            <a:r>
              <a:rPr lang="en-GB" dirty="0"/>
              <a:t> - data is accessible online,  it is readable by the human eye, but not by a software agent, because it is in a closed document format (e.g. a PDF file)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-GB" sz="500"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Two stars</a:t>
            </a:r>
            <a:r>
              <a:rPr lang="en-GB" dirty="0"/>
              <a:t> - data is accessible online in a structured, machine-readable format, but still depending on proprietary software (e.g. Word or Excel).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-GB" sz="500"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Three stars</a:t>
            </a:r>
            <a:r>
              <a:rPr lang="en-GB" dirty="0"/>
              <a:t> - users will no longer need to rely on proprietary software (e.g. CSV</a:t>
            </a:r>
            <a:br>
              <a:rPr lang="en-GB" dirty="0"/>
            </a:br>
            <a:r>
              <a:rPr lang="en-GB" dirty="0"/>
              <a:t>instead of Excel)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-GB" sz="500"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Four stars</a:t>
            </a:r>
            <a:r>
              <a:rPr lang="en-GB" dirty="0"/>
              <a:t> - data is available online through the use of a unique URI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-GB" sz="500"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Five stars</a:t>
            </a:r>
            <a:r>
              <a:rPr lang="en-GB" dirty="0"/>
              <a:t> - data is also linked to other data, fully exploiting its network effects (e.g. </a:t>
            </a:r>
            <a:r>
              <a:rPr lang="en-GB" dirty="0" err="1"/>
              <a:t>tlinks</a:t>
            </a:r>
            <a:r>
              <a:rPr lang="en-GB" dirty="0"/>
              <a:t> to Wikipedia).</a:t>
            </a:r>
            <a:endParaRPr dirty="0"/>
          </a:p>
        </p:txBody>
      </p:sp>
      <p:pic>
        <p:nvPicPr>
          <p:cNvPr id="2" name="Google Shape;150;p22">
            <a:extLst>
              <a:ext uri="{FF2B5EF4-FFF2-40B4-BE49-F238E27FC236}">
                <a16:creationId xmlns:a16="http://schemas.microsoft.com/office/drawing/2014/main" id="{BD0C9595-B2FF-8E6C-5236-6A385CD1DF6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9352" y="725214"/>
            <a:ext cx="4054749" cy="2511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Hands-on Activities</a:t>
            </a:r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body" idx="1"/>
          </p:nvPr>
        </p:nvSpPr>
        <p:spPr>
          <a:xfrm>
            <a:off x="311700" y="1352858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Adding JSON-LD information to our WoT Proxy adopting the “Product” schema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</Words>
  <Application>Microsoft Macintosh PowerPoint</Application>
  <PresentationFormat>Presentazione su schermo (4:3)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Open Sans</vt:lpstr>
      <vt:lpstr>Economica</vt:lpstr>
      <vt:lpstr>Luxe</vt:lpstr>
      <vt:lpstr>Interoperability and Semantic</vt:lpstr>
      <vt:lpstr>Findability</vt:lpstr>
      <vt:lpstr>Bootstrap Problem</vt:lpstr>
      <vt:lpstr>Web Thing Model</vt:lpstr>
      <vt:lpstr>Web Thing Model</vt:lpstr>
      <vt:lpstr>Semantics</vt:lpstr>
      <vt:lpstr>RDFa</vt:lpstr>
      <vt:lpstr>JSON-LD </vt:lpstr>
      <vt:lpstr>Open Data</vt:lpstr>
      <vt:lpstr>Hands-on Activities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Interoperability and Semantic</dc:title>
  <cp:lastModifiedBy>Riccardo Berta</cp:lastModifiedBy>
  <cp:revision>1</cp:revision>
  <dcterms:modified xsi:type="dcterms:W3CDTF">2023-05-25T11:34:29Z</dcterms:modified>
</cp:coreProperties>
</file>