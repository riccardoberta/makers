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4"/>
    <p:sldMasterId id="2147483671" r:id="rId5"/>
  </p:sldMasterIdLst>
  <p:notesMasterIdLst>
    <p:notesMasterId r:id="rId3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6" r:id="rId15"/>
    <p:sldId id="26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</p:sldIdLst>
  <p:sldSz cx="9144000" cy="6858000" type="screen4x3"/>
  <p:notesSz cx="6858000" cy="9144000"/>
  <p:embeddedFontLst>
    <p:embeddedFont>
      <p:font typeface="Economica" panose="02000506040000020004"/>
      <p:regular r:id="rId35"/>
      <p:bold r:id="rId36"/>
      <p:italic r:id="rId37"/>
      <p:bold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37D834-C874-7A45-A86A-81B431AA7AC8}" v="4" dt="2026-04-22T06:54:48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7"/>
    <p:restoredTop sz="94730"/>
  </p:normalViewPr>
  <p:slideViewPr>
    <p:cSldViewPr snapToGrid="0" snapToObjects="1">
      <p:cViewPr varScale="1">
        <p:scale>
          <a:sx n="119" d="100"/>
          <a:sy n="119" d="100"/>
        </p:scale>
        <p:origin x="1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5.fntdata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2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1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font" Target="fonts/font4.fntdata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cardo Berta" userId="c8694f89-bba4-4576-b0a8-456619ca5a8c" providerId="ADAL" clId="{FDDBFC5A-5EA9-5330-BEB8-433D7E3B4C4E}"/>
    <pc:docChg chg="custSel modSld">
      <pc:chgData name="Riccardo Berta" userId="c8694f89-bba4-4576-b0a8-456619ca5a8c" providerId="ADAL" clId="{FDDBFC5A-5EA9-5330-BEB8-433D7E3B4C4E}" dt="2026-04-22T06:54:56.540" v="19" actId="1076"/>
      <pc:docMkLst>
        <pc:docMk/>
      </pc:docMkLst>
      <pc:sldChg chg="addSp delSp modSp mod">
        <pc:chgData name="Riccardo Berta" userId="c8694f89-bba4-4576-b0a8-456619ca5a8c" providerId="ADAL" clId="{FDDBFC5A-5EA9-5330-BEB8-433D7E3B4C4E}" dt="2026-04-22T06:52:19.905" v="6" actId="1076"/>
        <pc:sldMkLst>
          <pc:docMk/>
          <pc:sldMk cId="0" sldId="257"/>
        </pc:sldMkLst>
        <pc:picChg chg="add mod">
          <ac:chgData name="Riccardo Berta" userId="c8694f89-bba4-4576-b0a8-456619ca5a8c" providerId="ADAL" clId="{FDDBFC5A-5EA9-5330-BEB8-433D7E3B4C4E}" dt="2026-04-22T06:52:19.905" v="6" actId="1076"/>
          <ac:picMkLst>
            <pc:docMk/>
            <pc:sldMk cId="0" sldId="257"/>
            <ac:picMk id="2" creationId="{F340A9E8-96FA-7499-3AF1-66E47ED550D0}"/>
          </ac:picMkLst>
        </pc:picChg>
        <pc:picChg chg="del">
          <ac:chgData name="Riccardo Berta" userId="c8694f89-bba4-4576-b0a8-456619ca5a8c" providerId="ADAL" clId="{FDDBFC5A-5EA9-5330-BEB8-433D7E3B4C4E}" dt="2026-04-22T06:52:06.724" v="2" actId="478"/>
          <ac:picMkLst>
            <pc:docMk/>
            <pc:sldMk cId="0" sldId="257"/>
            <ac:picMk id="3" creationId="{FEF13CAD-8013-E50E-52DC-93292D8A5289}"/>
          </ac:picMkLst>
        </pc:picChg>
      </pc:sldChg>
      <pc:sldChg chg="addSp delSp modSp mod">
        <pc:chgData name="Riccardo Berta" userId="c8694f89-bba4-4576-b0a8-456619ca5a8c" providerId="ADAL" clId="{FDDBFC5A-5EA9-5330-BEB8-433D7E3B4C4E}" dt="2026-04-22T06:53:35.866" v="12" actId="1076"/>
        <pc:sldMkLst>
          <pc:docMk/>
          <pc:sldMk cId="0" sldId="259"/>
        </pc:sldMkLst>
        <pc:picChg chg="add mod">
          <ac:chgData name="Riccardo Berta" userId="c8694f89-bba4-4576-b0a8-456619ca5a8c" providerId="ADAL" clId="{FDDBFC5A-5EA9-5330-BEB8-433D7E3B4C4E}" dt="2026-04-22T06:52:40.037" v="9" actId="1076"/>
          <ac:picMkLst>
            <pc:docMk/>
            <pc:sldMk cId="0" sldId="259"/>
            <ac:picMk id="2" creationId="{DB73E912-8E2B-5F91-10D0-3BC8757B633B}"/>
          </ac:picMkLst>
        </pc:picChg>
        <pc:picChg chg="del">
          <ac:chgData name="Riccardo Berta" userId="c8694f89-bba4-4576-b0a8-456619ca5a8c" providerId="ADAL" clId="{FDDBFC5A-5EA9-5330-BEB8-433D7E3B4C4E}" dt="2026-04-22T06:52:36.317" v="7" actId="478"/>
          <ac:picMkLst>
            <pc:docMk/>
            <pc:sldMk cId="0" sldId="259"/>
            <ac:picMk id="3" creationId="{2BC676C8-E391-74D9-9631-19DD814DB2E3}"/>
          </ac:picMkLst>
        </pc:picChg>
        <pc:picChg chg="add mod">
          <ac:chgData name="Riccardo Berta" userId="c8694f89-bba4-4576-b0a8-456619ca5a8c" providerId="ADAL" clId="{FDDBFC5A-5EA9-5330-BEB8-433D7E3B4C4E}" dt="2026-04-22T06:53:35.866" v="12" actId="1076"/>
          <ac:picMkLst>
            <pc:docMk/>
            <pc:sldMk cId="0" sldId="259"/>
            <ac:picMk id="4" creationId="{B3D26AEB-9AF5-2260-90BB-676F18C37842}"/>
          </ac:picMkLst>
        </pc:picChg>
        <pc:picChg chg="del">
          <ac:chgData name="Riccardo Berta" userId="c8694f89-bba4-4576-b0a8-456619ca5a8c" providerId="ADAL" clId="{FDDBFC5A-5EA9-5330-BEB8-433D7E3B4C4E}" dt="2026-04-22T06:53:32.162" v="10" actId="478"/>
          <ac:picMkLst>
            <pc:docMk/>
            <pc:sldMk cId="0" sldId="259"/>
            <ac:picMk id="5" creationId="{9EDADE26-6341-E0DF-10B1-AB6A98FEA74E}"/>
          </ac:picMkLst>
        </pc:picChg>
      </pc:sldChg>
      <pc:sldChg chg="addSp delSp modSp mod">
        <pc:chgData name="Riccardo Berta" userId="c8694f89-bba4-4576-b0a8-456619ca5a8c" providerId="ADAL" clId="{FDDBFC5A-5EA9-5330-BEB8-433D7E3B4C4E}" dt="2026-04-22T06:54:56.540" v="19" actId="1076"/>
        <pc:sldMkLst>
          <pc:docMk/>
          <pc:sldMk cId="0" sldId="266"/>
        </pc:sldMkLst>
        <pc:picChg chg="add mod">
          <ac:chgData name="Riccardo Berta" userId="c8694f89-bba4-4576-b0a8-456619ca5a8c" providerId="ADAL" clId="{FDDBFC5A-5EA9-5330-BEB8-433D7E3B4C4E}" dt="2026-04-22T06:54:56.540" v="19" actId="1076"/>
          <ac:picMkLst>
            <pc:docMk/>
            <pc:sldMk cId="0" sldId="266"/>
            <ac:picMk id="2" creationId="{9DAA82FC-073D-A822-122B-20CC6551EB73}"/>
          </ac:picMkLst>
        </pc:picChg>
        <pc:picChg chg="del">
          <ac:chgData name="Riccardo Berta" userId="c8694f89-bba4-4576-b0a8-456619ca5a8c" providerId="ADAL" clId="{FDDBFC5A-5EA9-5330-BEB8-433D7E3B4C4E}" dt="2026-04-22T06:54:47.214" v="13" actId="478"/>
          <ac:picMkLst>
            <pc:docMk/>
            <pc:sldMk cId="0" sldId="266"/>
            <ac:picMk id="3" creationId="{75CE04BD-4DF3-7B6A-8E57-577F2936668C}"/>
          </ac:picMkLst>
        </pc:picChg>
      </pc:sldChg>
      <pc:sldChg chg="modSp mod">
        <pc:chgData name="Riccardo Berta" userId="c8694f89-bba4-4576-b0a8-456619ca5a8c" providerId="ADAL" clId="{FDDBFC5A-5EA9-5330-BEB8-433D7E3B4C4E}" dt="2026-04-22T06:04:16.720" v="1" actId="20577"/>
        <pc:sldMkLst>
          <pc:docMk/>
          <pc:sldMk cId="996632380" sldId="281"/>
        </pc:sldMkLst>
        <pc:spChg chg="mod">
          <ac:chgData name="Riccardo Berta" userId="c8694f89-bba4-4576-b0a8-456619ca5a8c" providerId="ADAL" clId="{FDDBFC5A-5EA9-5330-BEB8-433D7E3B4C4E}" dt="2026-04-22T06:04:16.720" v="1" actId="20577"/>
          <ac:spMkLst>
            <pc:docMk/>
            <pc:sldMk cId="996632380" sldId="281"/>
            <ac:spMk id="228" creationId="{73A632F2-1632-36D2-5554-7F877E477BF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52671ba8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52671ba8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52671ba84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52671ba84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0b85365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0b85365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52671ba843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52671ba843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52671ba843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52671ba843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52671ba843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52671ba843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52671ba843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52671ba843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527bfafe44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527bfafe44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527bfafe4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527bfafe4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27bfafe4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27bfafe4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9A76BB89-1B9D-BB11-C0EA-C4A43CA88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27bfafe44_0_12:notes">
            <a:extLst>
              <a:ext uri="{FF2B5EF4-FFF2-40B4-BE49-F238E27FC236}">
                <a16:creationId xmlns:a16="http://schemas.microsoft.com/office/drawing/2014/main" id="{6C0F8D71-8AC8-16B9-8E62-50DFCD4D8B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27bfafe44_0_12:notes">
            <a:extLst>
              <a:ext uri="{FF2B5EF4-FFF2-40B4-BE49-F238E27FC236}">
                <a16:creationId xmlns:a16="http://schemas.microsoft.com/office/drawing/2014/main" id="{3AFCA0DC-F48A-A812-1B34-A840A6C54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36136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377DF5BA-29B6-A0FD-5E5B-FCD486E74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27bfafe44_0_12:notes">
            <a:extLst>
              <a:ext uri="{FF2B5EF4-FFF2-40B4-BE49-F238E27FC236}">
                <a16:creationId xmlns:a16="http://schemas.microsoft.com/office/drawing/2014/main" id="{1CA5849C-FA39-1B66-38F1-7F87D0CDBE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27bfafe44_0_12:notes">
            <a:extLst>
              <a:ext uri="{FF2B5EF4-FFF2-40B4-BE49-F238E27FC236}">
                <a16:creationId xmlns:a16="http://schemas.microsoft.com/office/drawing/2014/main" id="{AFADBB8D-F96A-9034-4A2C-B198B9B4C5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4954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E4862E6F-F255-323A-0A24-844F93EBA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27bfafe44_0_12:notes">
            <a:extLst>
              <a:ext uri="{FF2B5EF4-FFF2-40B4-BE49-F238E27FC236}">
                <a16:creationId xmlns:a16="http://schemas.microsoft.com/office/drawing/2014/main" id="{8E4EEA45-85CC-8246-42AF-59DF134F4B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27bfafe44_0_12:notes">
            <a:extLst>
              <a:ext uri="{FF2B5EF4-FFF2-40B4-BE49-F238E27FC236}">
                <a16:creationId xmlns:a16="http://schemas.microsoft.com/office/drawing/2014/main" id="{03100684-91AC-E3DF-33DD-B63D64E866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60291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80320BF8-9CA0-10DA-DC98-188A97FF7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27bfafe44_0_12:notes">
            <a:extLst>
              <a:ext uri="{FF2B5EF4-FFF2-40B4-BE49-F238E27FC236}">
                <a16:creationId xmlns:a16="http://schemas.microsoft.com/office/drawing/2014/main" id="{A13260D7-FB85-2A54-17D6-3C9A58A00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27bfafe44_0_12:notes">
            <a:extLst>
              <a:ext uri="{FF2B5EF4-FFF2-40B4-BE49-F238E27FC236}">
                <a16:creationId xmlns:a16="http://schemas.microsoft.com/office/drawing/2014/main" id="{F962DA69-BF01-B6E6-31F0-AAA5E6169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2986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F6E049D6-0E14-33C0-E8C1-F1DE75CF3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27bfafe44_0_12:notes">
            <a:extLst>
              <a:ext uri="{FF2B5EF4-FFF2-40B4-BE49-F238E27FC236}">
                <a16:creationId xmlns:a16="http://schemas.microsoft.com/office/drawing/2014/main" id="{08382ECD-7C75-F8D9-CCF2-70E8585D86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27bfafe44_0_12:notes">
            <a:extLst>
              <a:ext uri="{FF2B5EF4-FFF2-40B4-BE49-F238E27FC236}">
                <a16:creationId xmlns:a16="http://schemas.microsoft.com/office/drawing/2014/main" id="{C73DBE5F-0E90-E350-A1BD-AC820F69F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7657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9762DD9B-188E-B6FA-D367-94A804B71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27bfafe44_0_12:notes">
            <a:extLst>
              <a:ext uri="{FF2B5EF4-FFF2-40B4-BE49-F238E27FC236}">
                <a16:creationId xmlns:a16="http://schemas.microsoft.com/office/drawing/2014/main" id="{0E06A455-FBF4-BF7E-8EC6-BA81004A9C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27bfafe44_0_12:notes">
            <a:extLst>
              <a:ext uri="{FF2B5EF4-FFF2-40B4-BE49-F238E27FC236}">
                <a16:creationId xmlns:a16="http://schemas.microsoft.com/office/drawing/2014/main" id="{ACB0CF91-4BF8-513D-4A98-892DFFF343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4861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4D46BA61-22F5-698B-919C-838C3F8A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27bfafe44_0_12:notes">
            <a:extLst>
              <a:ext uri="{FF2B5EF4-FFF2-40B4-BE49-F238E27FC236}">
                <a16:creationId xmlns:a16="http://schemas.microsoft.com/office/drawing/2014/main" id="{C615387F-BA9D-5FB5-0985-35F2591F63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27bfafe44_0_12:notes">
            <a:extLst>
              <a:ext uri="{FF2B5EF4-FFF2-40B4-BE49-F238E27FC236}">
                <a16:creationId xmlns:a16="http://schemas.microsoft.com/office/drawing/2014/main" id="{09A58A41-6AB3-2BC1-9D44-E27B9875C1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1443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527bfafe4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527bfafe44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0b853654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10b853654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0b8536545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0b8536545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0b853654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0b853654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55253e09d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55253e09d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55253e09db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55253e09db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55253e09db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55253e09db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55253e09db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55253e09db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55253e09db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55253e09db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eed6aedb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eed6aedbf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cTheme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marL="914400" lvl="1" indent="-323850">
              <a:spcBef>
                <a:spcPts val="1600"/>
              </a:spcBef>
              <a:spcAft>
                <a:spcPts val="0"/>
              </a:spcAft>
              <a:buSzPts val="1500"/>
              <a:buChar char="○"/>
              <a:defRPr sz="15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16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16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16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1600"/>
              </a:spcBef>
              <a:spcAft>
                <a:spcPts val="16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744013" y="10089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4" name="Google Shape;64;p14"/>
          <p:cNvSpPr/>
          <p:nvPr/>
        </p:nvSpPr>
        <p:spPr>
          <a:xfrm rot="10800000">
            <a:off x="5318350" y="43556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65" name="Google Shape;65;p14"/>
          <p:cNvSpPr txBox="1">
            <a:spLocks noGrp="1"/>
          </p:cNvSpPr>
          <p:nvPr>
            <p:ph type="ctrTitle"/>
          </p:nvPr>
        </p:nvSpPr>
        <p:spPr>
          <a:xfrm>
            <a:off x="3044700" y="1925674"/>
            <a:ext cx="3054600" cy="204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1"/>
          </p:nvPr>
        </p:nvSpPr>
        <p:spPr>
          <a:xfrm>
            <a:off x="3044700" y="4155440"/>
            <a:ext cx="3054600" cy="9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 flipH="1">
            <a:off x="7595938" y="613633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70" name="Google Shape;70;p15"/>
          <p:cNvSpPr/>
          <p:nvPr/>
        </p:nvSpPr>
        <p:spPr>
          <a:xfrm rot="10800000" flipH="1">
            <a:off x="466425" y="4744471"/>
            <a:ext cx="1081625" cy="1499896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773700" y="2408600"/>
            <a:ext cx="7596600" cy="204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2"/>
          </p:nvPr>
        </p:nvSpPr>
        <p:spPr>
          <a:xfrm>
            <a:off x="4832400" y="1633633"/>
            <a:ext cx="39999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311700" y="1865867"/>
            <a:ext cx="2808000" cy="371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5878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6" name="Google Shape;96;p21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265500" y="1239033"/>
            <a:ext cx="4045200" cy="23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subTitle" idx="1"/>
          </p:nvPr>
        </p:nvSpPr>
        <p:spPr>
          <a:xfrm>
            <a:off x="265500" y="3692001"/>
            <a:ext cx="4045200" cy="20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body" idx="2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body" idx="1"/>
          </p:nvPr>
        </p:nvSpPr>
        <p:spPr>
          <a:xfrm>
            <a:off x="319500" y="5625233"/>
            <a:ext cx="5998800" cy="7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3"/>
          <p:cNvSpPr/>
          <p:nvPr/>
        </p:nvSpPr>
        <p:spPr>
          <a:xfrm>
            <a:off x="0" y="6727600"/>
            <a:ext cx="9144000" cy="1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276167"/>
            <a:ext cx="8520600" cy="28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3"/>
          <p:cNvSpPr txBox="1">
            <a:spLocks noGrp="1"/>
          </p:cNvSpPr>
          <p:nvPr>
            <p:ph type="body" idx="1"/>
          </p:nvPr>
        </p:nvSpPr>
        <p:spPr>
          <a:xfrm>
            <a:off x="311700" y="4216000"/>
            <a:ext cx="8520600" cy="14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ana.org/assignments/message-headers/message-headers.x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ana.org/assignments/media-types/media-types.x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tools.ietf.org/html/rfc8259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jsonplaceholder.typicode.com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>
            <a:spLocks noGrp="1"/>
          </p:cNvSpPr>
          <p:nvPr>
            <p:ph type="ctrTitle"/>
          </p:nvPr>
        </p:nvSpPr>
        <p:spPr>
          <a:xfrm>
            <a:off x="3013119" y="2587250"/>
            <a:ext cx="3152100" cy="135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HTTP</a:t>
            </a:r>
            <a:endParaRPr dirty="0"/>
          </a:p>
        </p:txBody>
      </p:sp>
      <p:pic>
        <p:nvPicPr>
          <p:cNvPr id="4" name="Immagine 1" descr="Immagine che contiene diagramma, Piano, schermata&#10;&#10;Il contenuto generato dall'IA potrebbe non essere corretto.">
            <a:extLst>
              <a:ext uri="{FF2B5EF4-FFF2-40B4-BE49-F238E27FC236}">
                <a16:creationId xmlns:a16="http://schemas.microsoft.com/office/drawing/2014/main" id="{22539F99-6ECD-00A9-48F2-C7FE4138E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345" y="236671"/>
            <a:ext cx="3533655" cy="1624730"/>
          </a:xfrm>
          <a:prstGeom prst="rect">
            <a:avLst/>
          </a:prstGeom>
        </p:spPr>
      </p:pic>
      <p:sp>
        <p:nvSpPr>
          <p:cNvPr id="2" name="Google Shape;131;p25">
            <a:extLst>
              <a:ext uri="{FF2B5EF4-FFF2-40B4-BE49-F238E27FC236}">
                <a16:creationId xmlns:a16="http://schemas.microsoft.com/office/drawing/2014/main" id="{891E7848-4BFF-DFA1-4A13-66755AC81076}"/>
              </a:ext>
            </a:extLst>
          </p:cNvPr>
          <p:cNvSpPr/>
          <p:nvPr/>
        </p:nvSpPr>
        <p:spPr>
          <a:xfrm>
            <a:off x="6400800" y="779389"/>
            <a:ext cx="914399" cy="570732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body" idx="1"/>
          </p:nvPr>
        </p:nvSpPr>
        <p:spPr>
          <a:xfrm>
            <a:off x="162750" y="1300892"/>
            <a:ext cx="8818500" cy="52099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Hypertext Transfer Protocol </a:t>
            </a:r>
            <a:r>
              <a:rPr lang="en-GB" dirty="0"/>
              <a:t>(HTTP)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application-level protocol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distributed, collaborative, </a:t>
            </a:r>
            <a:br>
              <a:rPr lang="en-GB" dirty="0"/>
            </a:br>
            <a:r>
              <a:rPr lang="en-GB" dirty="0"/>
              <a:t>hypermedia information systems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The foundation for data communication for the World Wide Web since 1990</a:t>
            </a: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HTTP is </a:t>
            </a:r>
            <a:r>
              <a:rPr lang="en-GB" b="1" dirty="0"/>
              <a:t>generic</a:t>
            </a:r>
            <a:r>
              <a:rPr lang="en-GB" dirty="0"/>
              <a:t> and </a:t>
            </a:r>
            <a:r>
              <a:rPr lang="en-GB" b="1" dirty="0"/>
              <a:t>stateless</a:t>
            </a:r>
            <a:r>
              <a:rPr lang="en-GB" dirty="0"/>
              <a:t> protocol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used for different purposes based on its request methods, error codes, and headers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endParaRPr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Basically, it is a TCP/IP based communication protocol, used to </a:t>
            </a:r>
            <a:r>
              <a:rPr lang="en-GB" b="1" dirty="0"/>
              <a:t>deliver data </a:t>
            </a:r>
            <a:r>
              <a:rPr lang="en-GB" dirty="0"/>
              <a:t>(HTML files, image files, query results, etc.) on the World Wide Web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The default </a:t>
            </a:r>
            <a:r>
              <a:rPr lang="en-GB" b="1" dirty="0"/>
              <a:t>port is TCP 80</a:t>
            </a:r>
            <a:r>
              <a:rPr lang="en-GB" dirty="0"/>
              <a:t>, but other ports can be used as well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Provides a standardized way for computers to communicate with each other</a:t>
            </a:r>
            <a:endParaRPr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endParaRPr lang="en-GB"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dirty="0"/>
              <a:t>HTTP specification: 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how clients request data will be constructed and sent to the server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how the servers respond to these requests</a:t>
            </a:r>
            <a:endParaRPr dirty="0"/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F340A9E8-96FA-7499-3AF1-66E47ED55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174" y="907043"/>
            <a:ext cx="4197126" cy="16156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features</a:t>
            </a:r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body" idx="1"/>
          </p:nvPr>
        </p:nvSpPr>
        <p:spPr>
          <a:xfrm>
            <a:off x="231275" y="1001616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b="1" dirty="0"/>
              <a:t>Connectionless</a:t>
            </a:r>
            <a:endParaRPr b="1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client initiates </a:t>
            </a:r>
            <a:r>
              <a:rPr lang="en-GB" b="1" dirty="0"/>
              <a:t>requests</a:t>
            </a:r>
            <a:r>
              <a:rPr lang="en-GB" dirty="0"/>
              <a:t> and waits for the </a:t>
            </a:r>
            <a:r>
              <a:rPr lang="en-GB" b="1" dirty="0"/>
              <a:t>response</a:t>
            </a:r>
            <a:endParaRPr b="1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server processes the request and sends a response back 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after that client disconnect the connection is closed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client and server knows about each other during current request and response only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dirty="0"/>
          </a:p>
          <a:p>
            <a: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b="1" dirty="0"/>
              <a:t>Media Independent</a:t>
            </a:r>
            <a:endParaRPr b="1"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any type of data can be sent by HTTP as long as both the client and the server know how to handle the data content</a:t>
            </a:r>
            <a:endParaRPr dirty="0"/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r>
              <a:rPr lang="en-GB" dirty="0"/>
              <a:t>it is required only to specify the content type using appropriate MIME-type</a:t>
            </a:r>
          </a:p>
          <a:p>
            <a: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"/>
              <a:buChar char="○"/>
            </a:pPr>
            <a:endParaRPr sz="1000" dirty="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b="1" dirty="0"/>
              <a:t>Stateless</a:t>
            </a:r>
            <a:endParaRPr b="1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server and client are aware of each other only during a current request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afterwards, both of them forget about each other</a:t>
            </a:r>
            <a:endParaRPr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dirty="0"/>
              <a:t>neither the client nor the server retains information between different requests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48B3B8-3470-C830-5066-8B5573624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450" y="5143220"/>
            <a:ext cx="6089100" cy="15243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Elements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0BAE8C-50BF-2C2A-4C99-D5D87EF21943}"/>
              </a:ext>
            </a:extLst>
          </p:cNvPr>
          <p:cNvSpPr txBox="1"/>
          <p:nvPr/>
        </p:nvSpPr>
        <p:spPr>
          <a:xfrm>
            <a:off x="685800" y="1352508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Request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174276-3F9A-A672-581D-9F849D630742}"/>
              </a:ext>
            </a:extLst>
          </p:cNvPr>
          <p:cNvSpPr txBox="1"/>
          <p:nvPr/>
        </p:nvSpPr>
        <p:spPr>
          <a:xfrm>
            <a:off x="685799" y="3737775"/>
            <a:ext cx="10390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Response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DB73E912-8E2B-5F91-10D0-3BC8757B6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4298"/>
            <a:ext cx="7772400" cy="1589463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B3D26AEB-9AF5-2260-90BB-676F18C37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63514"/>
            <a:ext cx="7772400" cy="2349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body" idx="1"/>
          </p:nvPr>
        </p:nvSpPr>
        <p:spPr>
          <a:xfrm>
            <a:off x="311700" y="1225342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Resource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target of a request, which nature </a:t>
            </a:r>
            <a:br>
              <a:rPr lang="en-GB" dirty="0"/>
            </a:br>
            <a:r>
              <a:rPr lang="en-GB" dirty="0"/>
              <a:t>isn't defined further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 can be a document, a photo, or </a:t>
            </a:r>
            <a:br>
              <a:rPr lang="en-GB" dirty="0"/>
            </a:br>
            <a:r>
              <a:rPr lang="en-GB" dirty="0"/>
              <a:t>anything else! </a:t>
            </a:r>
            <a:endParaRPr lang="it-IT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Uniform Resource Locator </a:t>
            </a:r>
            <a:r>
              <a:rPr lang="en-GB" dirty="0"/>
              <a:t>(URL)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identity of the particular resource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Verbs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action that should be performed on the resource specified via URL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HTTP has formalized a few verbs that capture the essentials that are universally applicable for all kinds of applications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GET, POST, PUT, DELETE, etc.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177" name="Google Shape;177;p2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Resources, URLs and Verbs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EE1956-641E-A48E-DA8C-80085DA14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81873"/>
            <a:ext cx="4196442" cy="22353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253000-3FAB-C980-9B04-888ED2BD7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386" y="3577855"/>
            <a:ext cx="6923314" cy="11316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Status Codes </a:t>
            </a:r>
            <a:endParaRPr dirty="0"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1"/>
          </p:nvPr>
        </p:nvSpPr>
        <p:spPr>
          <a:xfrm>
            <a:off x="311700" y="1192957"/>
            <a:ext cx="8441775" cy="47982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Tells the client how to interpret the server response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HTTP spec defines a number ranges for specific types of responses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2xx</a:t>
            </a:r>
            <a:r>
              <a:rPr lang="en-GB" dirty="0"/>
              <a:t>: Successful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the request was successfully processed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200 OK, 202 Accepted, 204 No Content, 205 Reset Content 206 Partial Content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3xx</a:t>
            </a:r>
            <a:r>
              <a:rPr lang="en-GB" dirty="0"/>
              <a:t>: Redirection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requires the client to take additional action (e.g. jump to a different URL)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301 Moved Permanently, 303 See Other, 304 Not Modified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4xx</a:t>
            </a:r>
            <a:r>
              <a:rPr lang="en-GB" dirty="0"/>
              <a:t>: Client Error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the server thinks that the client is at fault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404 Not Found, 400 Bad Request, 401 Unauthorized, 403 Forbidden, 405 Method Not Allowed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5xx</a:t>
            </a:r>
            <a:r>
              <a:rPr lang="en-GB" dirty="0"/>
              <a:t>: Server Error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used to indicate a server failure while processing the request.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500 Internal Server Error, 501 Not Implemented, 503 Service Unavailable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Headers</a:t>
            </a:r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body" idx="1"/>
          </p:nvPr>
        </p:nvSpPr>
        <p:spPr>
          <a:xfrm>
            <a:off x="311700" y="1130374"/>
            <a:ext cx="8520600" cy="49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Allow client and server to pass additional information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list of case-insensitive </a:t>
            </a:r>
            <a:r>
              <a:rPr lang="en-GB" b="1" dirty="0"/>
              <a:t>name ':'  value</a:t>
            </a:r>
            <a:r>
              <a:rPr lang="en-GB" dirty="0"/>
              <a:t> pairs</a:t>
            </a:r>
            <a:endParaRPr sz="600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Grouped according to their contexts: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General</a:t>
            </a:r>
            <a:r>
              <a:rPr lang="en-GB" dirty="0"/>
              <a:t> header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applying to both requests and responses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with no relation to the data transmitted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Entity</a:t>
            </a:r>
            <a:r>
              <a:rPr lang="en-GB" dirty="0"/>
              <a:t> header</a:t>
            </a:r>
            <a:endParaRPr sz="1800"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 dirty="0"/>
              <a:t>information about the body of the entity</a:t>
            </a:r>
            <a:endParaRPr dirty="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GB" dirty="0"/>
              <a:t>like its content length or its MIME-type</a:t>
            </a:r>
            <a:endParaRPr sz="18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Request header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Response header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IANA registry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https://www.iana.org/assignments/message-headers/message-headers.xhtml</a:t>
            </a:r>
            <a:r>
              <a:rPr lang="en-GB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Message Body</a:t>
            </a:r>
            <a:endParaRPr/>
          </a:p>
        </p:txBody>
      </p:sp>
      <p:sp>
        <p:nvSpPr>
          <p:cNvPr id="200" name="Google Shape;200;p32"/>
          <p:cNvSpPr txBox="1">
            <a:spLocks noGrp="1"/>
          </p:cNvSpPr>
          <p:nvPr>
            <p:ph type="body" idx="1"/>
          </p:nvPr>
        </p:nvSpPr>
        <p:spPr>
          <a:xfrm>
            <a:off x="311700" y="13181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Used to carry the entity representation associated with the request or response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 carries the actual HTTP request data (including form data and uploaded, etc.)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and HTTP response data from the server ( including files, images, etc.). </a:t>
            </a:r>
            <a:endParaRPr dirty="0"/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 is optional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HTTP is </a:t>
            </a:r>
            <a:r>
              <a:rPr lang="en-GB" b="1" dirty="0"/>
              <a:t>agnostic</a:t>
            </a:r>
            <a:r>
              <a:rPr lang="en-GB" dirty="0"/>
              <a:t> about the format of the message body</a:t>
            </a: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“Content-Type” and “Content-Length” headers specify the body nature</a:t>
            </a:r>
          </a:p>
          <a:p>
            <a:pPr marL="571500" lvl="1" indent="0">
              <a:spcBef>
                <a:spcPts val="0"/>
              </a:spcBef>
              <a:buSzPts val="1800"/>
              <a:buNone/>
            </a:pPr>
            <a:endParaRPr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MIME</a:t>
            </a:r>
            <a:r>
              <a:rPr lang="en-GB" dirty="0"/>
              <a:t> (Multipurpose Internet Mail Extensions)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standard to indicate the nature and format of a document, file, or assortment of bytes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https://www.iana.org/assignments/media-types/media-types.xhtml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consists of a type and a subtype, concatenated with a slash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types</a:t>
            </a:r>
            <a:r>
              <a:rPr lang="en-GB" dirty="0"/>
              <a:t>: application, audio, font, text, image, video, etc.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subtypes</a:t>
            </a:r>
            <a:r>
              <a:rPr lang="en-GB" dirty="0"/>
              <a:t>: text/plain, text/html, image/jpg, application/json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 Message</a:t>
            </a:r>
            <a:endParaRPr/>
          </a:p>
        </p:txBody>
      </p:sp>
      <p:sp>
        <p:nvSpPr>
          <p:cNvPr id="207" name="Google Shape;207;p33"/>
          <p:cNvSpPr txBox="1">
            <a:spLocks noGrp="1"/>
          </p:cNvSpPr>
          <p:nvPr>
            <p:ph type="body" idx="1"/>
          </p:nvPr>
        </p:nvSpPr>
        <p:spPr>
          <a:xfrm>
            <a:off x="311700" y="1140567"/>
            <a:ext cx="8520600" cy="529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request/response message consists of: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request line, such as GET /</a:t>
            </a:r>
            <a:r>
              <a:rPr lang="en-GB" dirty="0" err="1"/>
              <a:t>logo.gif</a:t>
            </a:r>
            <a:r>
              <a:rPr lang="en-GB" dirty="0"/>
              <a:t> HTTP/1.1 or Status line, such as HTTP/1.1 200 OK,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headers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an empty line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optional HTTP message body data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Example:</a:t>
            </a:r>
            <a:endParaRPr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-GB" dirty="0"/>
              <a:t>Request</a:t>
            </a:r>
            <a:br>
              <a:rPr lang="en-GB" sz="1800" dirty="0"/>
            </a:b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GET /pi/sensors/temperature HTTP/1.1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Host: 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devices.webofthings.io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Accept: application/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cache-control: no-cache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18288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Response</a:t>
            </a:r>
            <a:br>
              <a:rPr lang="en-GB" sz="1800" dirty="0"/>
            </a:b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HTTP/1.1 200 OK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Date: Mon, 11 March 2019 23:26:07 GMT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Server: Apache/2.2.8 (Ubuntu) 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mod_ssl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/2.2.8 OpenSSL/0.9.8g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Last-Modified: Mon, 11 March 2019 23:26:07 GMT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ETag: "45b6-834-49130cc1182c0"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Content-Length: 168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Connection: close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Content-Type: application/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{"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name":"Temperature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Sensor","description":"A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temperature sensor.","type":"float","unit":"celsius","value":25.4,"frequency":5000,"timestamp":"2019-03-11T10:51:43.488Z"}</a:t>
            </a:r>
            <a:endParaRPr sz="1050" dirty="0">
              <a:highlight>
                <a:srgbClr val="F8F9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Content Negotiation</a:t>
            </a:r>
            <a:endParaRPr/>
          </a:p>
        </p:txBody>
      </p:sp>
      <p:sp>
        <p:nvSpPr>
          <p:cNvPr id="221" name="Google Shape;221;p35"/>
          <p:cNvSpPr txBox="1">
            <a:spLocks noGrp="1"/>
          </p:cNvSpPr>
          <p:nvPr>
            <p:ph type="body" idx="1"/>
          </p:nvPr>
        </p:nvSpPr>
        <p:spPr>
          <a:xfrm>
            <a:off x="311700" y="1124549"/>
            <a:ext cx="8520600" cy="5312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Mechanism to </a:t>
            </a:r>
            <a:r>
              <a:rPr lang="en-GB" b="1" dirty="0"/>
              <a:t>ask for a specific type </a:t>
            </a:r>
            <a:r>
              <a:rPr lang="en-GB" dirty="0"/>
              <a:t>or representation by a client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“</a:t>
            </a:r>
            <a:r>
              <a:rPr lang="en-GB" b="1" dirty="0"/>
              <a:t>Accept</a:t>
            </a:r>
            <a:r>
              <a:rPr lang="en-GB" dirty="0"/>
              <a:t>” header in the request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specify the desired representation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is possible to have multiple values, with ratings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server will supply the version of the resource that best fits the user needs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it-IT" sz="6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en-IT" sz="11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en-IT" sz="6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en-IT" sz="6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en-IT" sz="6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en-IT" sz="6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600" dirty="0"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Example: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Courier New"/>
              <a:buChar char="○"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Accept: application/</a:t>
            </a:r>
            <a:r>
              <a:rPr lang="en-GB" dirty="0" err="1"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; q=1.0, application/xml; q=0.8, */*; q=0.1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ask a JSON format, if it can’t, perhaps it could return XML format (the second level), If it’s still not possible, let it return what it can...</a:t>
            </a:r>
            <a:endParaRPr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DAA82FC-073D-A822-122B-20CC6551E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140" y="2869979"/>
            <a:ext cx="6500307" cy="24645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Caches (1)</a:t>
            </a:r>
            <a:endParaRPr dirty="0"/>
          </a:p>
        </p:txBody>
      </p:sp>
      <p:sp>
        <p:nvSpPr>
          <p:cNvPr id="228" name="Google Shape;228;p36"/>
          <p:cNvSpPr txBox="1">
            <a:spLocks noGrp="1"/>
          </p:cNvSpPr>
          <p:nvPr>
            <p:ph type="body" idx="1"/>
          </p:nvPr>
        </p:nvSpPr>
        <p:spPr>
          <a:xfrm>
            <a:off x="311700" y="978417"/>
            <a:ext cx="8520600" cy="5619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To eliminate the need to send requests in many cases, and to eliminate the need to send full responses in many other cases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-GB"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Client-side</a:t>
            </a:r>
            <a:r>
              <a:rPr lang="en-GB" dirty="0"/>
              <a:t> caching: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When a client first retrieves cacheable resources (e.g. web page) those resources are stored in the local cache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On subsequent visits, the client loads the cached resources from local storage instead of downloading them again from the origin server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Can be </a:t>
            </a:r>
            <a:r>
              <a:rPr lang="en-GB" b="1" dirty="0"/>
              <a:t>private</a:t>
            </a:r>
            <a:r>
              <a:rPr lang="en-GB" dirty="0"/>
              <a:t>: dedicated to a single user: </a:t>
            </a:r>
            <a:r>
              <a:rPr lang="en-GB" dirty="0">
                <a:latin typeface="Courier New"/>
                <a:cs typeface="Courier New"/>
              </a:rPr>
              <a:t>Cache-Control: private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-GB" dirty="0">
              <a:latin typeface="Courier New"/>
              <a:cs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Server-side </a:t>
            </a:r>
            <a:r>
              <a:rPr lang="en-GB" dirty="0"/>
              <a:t>caching:</a:t>
            </a:r>
            <a:endParaRPr lang="en-GB"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Relies on intermediate nodes or alternative server to store responses from the origin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Lower server load and decreases overall request latency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Common example: </a:t>
            </a:r>
            <a:r>
              <a:rPr lang="en-GB" b="1" dirty="0"/>
              <a:t>reverse proxy</a:t>
            </a:r>
            <a:r>
              <a:rPr lang="en-GB" dirty="0"/>
              <a:t> (e.g. NGINX)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This type of cache is typically </a:t>
            </a:r>
            <a:r>
              <a:rPr lang="en-GB" b="1" dirty="0"/>
              <a:t>shared: </a:t>
            </a:r>
            <a:r>
              <a:rPr lang="en-GB" dirty="0">
                <a:latin typeface="Courier New"/>
                <a:cs typeface="Courier New"/>
              </a:rPr>
              <a:t>Cache-Control: public</a:t>
            </a:r>
            <a:endParaRPr lang="en-IT" dirty="0">
              <a:latin typeface="Courier New"/>
              <a:cs typeface="Courier Ne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501667-2C7E-DD37-48AC-117C1ECBC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71" y="1656648"/>
            <a:ext cx="5992585" cy="17723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D5FD748C-B291-3969-3365-F8049FC5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>
            <a:extLst>
              <a:ext uri="{FF2B5EF4-FFF2-40B4-BE49-F238E27FC236}">
                <a16:creationId xmlns:a16="http://schemas.microsoft.com/office/drawing/2014/main" id="{89BFE021-AAE3-37CA-8D45-2914965C75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Caches (2)</a:t>
            </a:r>
            <a:endParaRPr dirty="0"/>
          </a:p>
        </p:txBody>
      </p:sp>
      <p:sp>
        <p:nvSpPr>
          <p:cNvPr id="228" name="Google Shape;228;p36">
            <a:extLst>
              <a:ext uri="{FF2B5EF4-FFF2-40B4-BE49-F238E27FC236}">
                <a16:creationId xmlns:a16="http://schemas.microsoft.com/office/drawing/2014/main" id="{F9B484FD-F5AD-3386-8B2F-B32633A13A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78417"/>
            <a:ext cx="8520600" cy="43806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Cache-Control </a:t>
            </a:r>
            <a:r>
              <a:rPr lang="en-GB" dirty="0"/>
              <a:t>header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Directives to specify the caching behaviour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no-cache directive</a:t>
            </a:r>
            <a:r>
              <a:rPr lang="en-GB" dirty="0"/>
              <a:t>: revalidate a stored response with the origin before serving it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no-store: </a:t>
            </a:r>
            <a:r>
              <a:rPr lang="en-GB" dirty="0"/>
              <a:t>to prevent the response from being stored in any cache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max-age directive</a:t>
            </a:r>
            <a:r>
              <a:rPr lang="en-GB" dirty="0"/>
              <a:t>: how long a response remains </a:t>
            </a:r>
            <a:r>
              <a:rPr lang="en-GB" b="1" dirty="0"/>
              <a:t>fresh</a:t>
            </a:r>
            <a:r>
              <a:rPr lang="en-GB" dirty="0"/>
              <a:t> (in seconds from the moment it is generated)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max-stale directive</a:t>
            </a:r>
            <a:r>
              <a:rPr lang="en-GB" dirty="0"/>
              <a:t> a client can specify that it will accept stale responses for a certain number of seconds beyond their expiration. Useful when the origin is temporarily unavailable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Several other directives:  </a:t>
            </a:r>
            <a:r>
              <a:rPr lang="en-GB" b="1" dirty="0"/>
              <a:t>min-fresh</a:t>
            </a:r>
            <a:r>
              <a:rPr lang="en-GB" dirty="0"/>
              <a:t>, </a:t>
            </a:r>
            <a:r>
              <a:rPr lang="en-GB" b="1" dirty="0"/>
              <a:t>must-revalidate</a:t>
            </a:r>
            <a:r>
              <a:rPr lang="en-GB" dirty="0"/>
              <a:t>, and </a:t>
            </a:r>
            <a:r>
              <a:rPr lang="en-GB" b="1" dirty="0"/>
              <a:t>proxy-revalidate</a:t>
            </a:r>
            <a:r>
              <a:rPr lang="en-GB" dirty="0"/>
              <a:t>,</a:t>
            </a:r>
            <a:r>
              <a:rPr lang="en-GB" b="1" dirty="0"/>
              <a:t> </a:t>
            </a:r>
            <a:r>
              <a:rPr lang="en-GB" dirty="0"/>
              <a:t>additional flexibility in managing cache lifetimes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-GB"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Expires </a:t>
            </a:r>
            <a:r>
              <a:rPr lang="en-GB" dirty="0"/>
              <a:t>header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Absolute date and time after which the response is considered stale (in GMT format)</a:t>
            </a:r>
          </a:p>
          <a:p>
            <a:pPr lvl="1">
              <a:spcBef>
                <a:spcPts val="0"/>
              </a:spcBef>
            </a:pPr>
            <a:r>
              <a:rPr lang="en-GB" dirty="0"/>
              <a:t>Older caching mechanism, largely replaced by the Cache-Control header</a:t>
            </a:r>
          </a:p>
        </p:txBody>
      </p:sp>
    </p:spTree>
    <p:extLst>
      <p:ext uri="{BB962C8B-B14F-4D97-AF65-F5344CB8AC3E}">
        <p14:creationId xmlns:p14="http://schemas.microsoft.com/office/powerpoint/2010/main" val="3158677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F7D1F0BD-0094-8BF8-7ACE-1AE8E9800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>
            <a:extLst>
              <a:ext uri="{FF2B5EF4-FFF2-40B4-BE49-F238E27FC236}">
                <a16:creationId xmlns:a16="http://schemas.microsoft.com/office/drawing/2014/main" id="{1665ED48-63B9-0B86-C1D2-BA7463EF19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Conditionals (1)</a:t>
            </a:r>
            <a:endParaRPr dirty="0"/>
          </a:p>
        </p:txBody>
      </p:sp>
      <p:sp>
        <p:nvSpPr>
          <p:cNvPr id="228" name="Google Shape;228;p36">
            <a:extLst>
              <a:ext uri="{FF2B5EF4-FFF2-40B4-BE49-F238E27FC236}">
                <a16:creationId xmlns:a16="http://schemas.microsoft.com/office/drawing/2014/main" id="{F53C0509-9420-43F2-2A81-0ECA50F245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78417"/>
            <a:ext cx="8520600" cy="5549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Request a resource </a:t>
            </a:r>
            <a:r>
              <a:rPr lang="en-GB" b="1" dirty="0"/>
              <a:t>only if certain conditions are met</a:t>
            </a:r>
            <a:endParaRPr lang="en-GB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Avoid unnecessary data transfer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Specified through headers that compare the current state of the resource with the version stored by the cache.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improve efficiency by reducing bandwidth usage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Last-Modified</a:t>
            </a:r>
            <a:r>
              <a:rPr lang="en-GB" dirty="0"/>
              <a:t> header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date and time that the server believes the resource was last modified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client can include a </a:t>
            </a:r>
            <a:r>
              <a:rPr lang="en-GB" b="1" dirty="0"/>
              <a:t>If-Modified-Since</a:t>
            </a:r>
            <a:r>
              <a:rPr lang="en-GB" dirty="0"/>
              <a:t> header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172D06-9F23-255A-952B-CE1921B57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28" y="3753269"/>
            <a:ext cx="7772400" cy="245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50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15859C39-662C-1154-23D7-2AD0114DF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>
            <a:extLst>
              <a:ext uri="{FF2B5EF4-FFF2-40B4-BE49-F238E27FC236}">
                <a16:creationId xmlns:a16="http://schemas.microsoft.com/office/drawing/2014/main" id="{895A9A9B-F03D-5824-2C10-28B701C080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Conditionals (2)</a:t>
            </a:r>
            <a:endParaRPr dirty="0"/>
          </a:p>
        </p:txBody>
      </p:sp>
      <p:sp>
        <p:nvSpPr>
          <p:cNvPr id="228" name="Google Shape;228;p36">
            <a:extLst>
              <a:ext uri="{FF2B5EF4-FFF2-40B4-BE49-F238E27FC236}">
                <a16:creationId xmlns:a16="http://schemas.microsoft.com/office/drawing/2014/main" id="{AEEF949B-02E1-1ADD-7499-DDBA762940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78417"/>
            <a:ext cx="8520600" cy="5549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ETag (Entity Tag)</a:t>
            </a:r>
            <a:r>
              <a:rPr lang="en-GB" dirty="0"/>
              <a:t> header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Used to provide a unique identifier for a </a:t>
            </a:r>
            <a:r>
              <a:rPr lang="en-GB" b="1" dirty="0"/>
              <a:t>specific version</a:t>
            </a:r>
            <a:r>
              <a:rPr lang="en-GB" dirty="0"/>
              <a:t> of a resource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 Acts as a </a:t>
            </a:r>
            <a:r>
              <a:rPr lang="en-GB" b="1" dirty="0"/>
              <a:t>fingerprint</a:t>
            </a:r>
            <a:r>
              <a:rPr lang="en-GB" dirty="0"/>
              <a:t> for the content, allowing caches and clients to efficiently determine if the content has changed since the last request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On subsequent requests, the client sends the ETag value in the </a:t>
            </a:r>
            <a:r>
              <a:rPr lang="en-GB" b="1" dirty="0"/>
              <a:t>If-None-Match</a:t>
            </a:r>
            <a:r>
              <a:rPr lang="en-GB" dirty="0"/>
              <a:t> header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11A0A4-A71D-E5DB-E735-55167F25B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09" y="2869576"/>
            <a:ext cx="7772400" cy="254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21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04E45317-5F56-DC5A-18D2-CEFD99B64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>
            <a:extLst>
              <a:ext uri="{FF2B5EF4-FFF2-40B4-BE49-F238E27FC236}">
                <a16:creationId xmlns:a16="http://schemas.microsoft.com/office/drawing/2014/main" id="{0ADC6C46-63AF-20D2-6324-D711A6A486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Authentication (1)</a:t>
            </a:r>
            <a:endParaRPr dirty="0"/>
          </a:p>
        </p:txBody>
      </p:sp>
      <p:sp>
        <p:nvSpPr>
          <p:cNvPr id="228" name="Google Shape;228;p36">
            <a:extLst>
              <a:ext uri="{FF2B5EF4-FFF2-40B4-BE49-F238E27FC236}">
                <a16:creationId xmlns:a16="http://schemas.microsoft.com/office/drawing/2014/main" id="{73A632F2-1632-36D2-5554-7F877E477B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78417"/>
            <a:ext cx="8520600" cy="5549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 process by which a server </a:t>
            </a:r>
            <a:r>
              <a:rPr lang="en-GB" b="1" dirty="0"/>
              <a:t>verifies</a:t>
            </a:r>
            <a:r>
              <a:rPr lang="en-GB" dirty="0"/>
              <a:t> the </a:t>
            </a:r>
            <a:r>
              <a:rPr lang="en-GB" b="1" dirty="0"/>
              <a:t>identity of a client </a:t>
            </a:r>
            <a:r>
              <a:rPr lang="en-GB" dirty="0"/>
              <a:t>before granting access to protected resources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Ensures only authorized users can access specific content or perform certain actions.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Basic Authentication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client sends the username and password in the </a:t>
            </a:r>
            <a:r>
              <a:rPr lang="en-GB" b="1" dirty="0"/>
              <a:t>Authorization header</a:t>
            </a:r>
            <a:r>
              <a:rPr lang="en-GB" dirty="0"/>
              <a:t> as a base64-encoded string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Digest Authentication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Improves security by </a:t>
            </a:r>
            <a:r>
              <a:rPr lang="en-GB" b="1" dirty="0"/>
              <a:t>hashing the password</a:t>
            </a:r>
            <a:r>
              <a:rPr lang="en-GB" dirty="0"/>
              <a:t> before sending it over the network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 Bearer Token Authentication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client uses an </a:t>
            </a:r>
            <a:r>
              <a:rPr lang="en-GB" b="1" dirty="0"/>
              <a:t>access token</a:t>
            </a:r>
            <a:r>
              <a:rPr lang="en-GB" dirty="0"/>
              <a:t> instead of a password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token can be </a:t>
            </a:r>
            <a:r>
              <a:rPr lang="en-GB" b="1" dirty="0"/>
              <a:t>scoped</a:t>
            </a:r>
            <a:r>
              <a:rPr lang="en-GB" dirty="0"/>
              <a:t> to specific actions or resources and have </a:t>
            </a:r>
            <a:r>
              <a:rPr lang="en-GB" b="1"/>
              <a:t>expiration times</a:t>
            </a:r>
            <a:r>
              <a:rPr lang="en-GB"/>
              <a:t>, </a:t>
            </a:r>
            <a:r>
              <a:rPr lang="en-GB" dirty="0"/>
              <a:t>adding a layer of security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Certificate-Based Authentication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client uses a </a:t>
            </a:r>
            <a:r>
              <a:rPr lang="en-GB" b="1" dirty="0"/>
              <a:t>digital certificate</a:t>
            </a:r>
            <a:r>
              <a:rPr lang="en-GB" dirty="0"/>
              <a:t> to authenticate itself to the server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server verifies the client's certificate through a </a:t>
            </a:r>
            <a:r>
              <a:rPr lang="en-GB" b="1" dirty="0"/>
              <a:t>trusted certificate authority</a:t>
            </a:r>
            <a:r>
              <a:rPr lang="en-GB" dirty="0"/>
              <a:t>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lang="en-GB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Server response: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b="1" dirty="0"/>
              <a:t>401 Unauthorized</a:t>
            </a:r>
            <a:r>
              <a:rPr lang="en-GB" dirty="0"/>
              <a:t> to </a:t>
            </a:r>
            <a:r>
              <a:rPr lang="en-GB" dirty="0" err="1"/>
              <a:t>promp</a:t>
            </a:r>
            <a:r>
              <a:rPr lang="en-GB" dirty="0"/>
              <a:t> the client to authenticate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Includes a </a:t>
            </a:r>
            <a:r>
              <a:rPr lang="en-GB" b="1" dirty="0"/>
              <a:t>WWW-Authenticate</a:t>
            </a:r>
            <a:r>
              <a:rPr lang="en-GB" dirty="0"/>
              <a:t> header specifying the authentication methods</a:t>
            </a:r>
          </a:p>
        </p:txBody>
      </p:sp>
    </p:spTree>
    <p:extLst>
      <p:ext uri="{BB962C8B-B14F-4D97-AF65-F5344CB8AC3E}">
        <p14:creationId xmlns:p14="http://schemas.microsoft.com/office/powerpoint/2010/main" val="996632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7BBFAA72-C03B-7C3E-DF4A-D9178DF75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>
            <a:extLst>
              <a:ext uri="{FF2B5EF4-FFF2-40B4-BE49-F238E27FC236}">
                <a16:creationId xmlns:a16="http://schemas.microsoft.com/office/drawing/2014/main" id="{25457BF0-D9CC-9F13-BD81-F8B7CA6A47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Authentication (2)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5DCD48-0450-FFC6-481D-219A02EBF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04" y="1650447"/>
            <a:ext cx="8696396" cy="355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077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0E06AC6E-BEAA-B0E5-3713-5CFFA21EA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>
            <a:extLst>
              <a:ext uri="{FF2B5EF4-FFF2-40B4-BE49-F238E27FC236}">
                <a16:creationId xmlns:a16="http://schemas.microsoft.com/office/drawing/2014/main" id="{728B88EB-B402-DDDF-AFAB-150AB3AE9E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Cross-Origin Resource Sharing (CORS) (1)</a:t>
            </a:r>
            <a:endParaRPr dirty="0"/>
          </a:p>
        </p:txBody>
      </p:sp>
      <p:sp>
        <p:nvSpPr>
          <p:cNvPr id="228" name="Google Shape;228;p36">
            <a:extLst>
              <a:ext uri="{FF2B5EF4-FFF2-40B4-BE49-F238E27FC236}">
                <a16:creationId xmlns:a16="http://schemas.microsoft.com/office/drawing/2014/main" id="{FEC08CB1-5032-5C63-D7A3-3571FC0F7F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78417"/>
            <a:ext cx="8520600" cy="5549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Browsers enforce a </a:t>
            </a:r>
            <a:r>
              <a:rPr lang="en-GB" b="1" dirty="0"/>
              <a:t>same-origin policy</a:t>
            </a:r>
            <a:r>
              <a:rPr lang="en-GB" dirty="0"/>
              <a:t> to restrict how scripts and resources from one origin can interact with resources from another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we browse "</a:t>
            </a:r>
            <a:r>
              <a:rPr lang="en-GB" dirty="0" err="1"/>
              <a:t>www.wikipedia.org</a:t>
            </a:r>
            <a:r>
              <a:rPr lang="en-GB" dirty="0"/>
              <a:t>" and try to fetch from "</a:t>
            </a:r>
            <a:r>
              <a:rPr lang="en-GB" dirty="0" err="1"/>
              <a:t>www.google.com</a:t>
            </a:r>
            <a:r>
              <a:rPr lang="en-GB" dirty="0"/>
              <a:t>": the browser will abort the request: This is help to </a:t>
            </a:r>
            <a:r>
              <a:rPr lang="en-GB" b="1" dirty="0"/>
              <a:t>protect privacy</a:t>
            </a:r>
            <a:r>
              <a:rPr lang="en-GB" dirty="0"/>
              <a:t>.  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There are </a:t>
            </a:r>
            <a:r>
              <a:rPr lang="en-GB" b="1" dirty="0"/>
              <a:t>legitimate</a:t>
            </a:r>
            <a:r>
              <a:rPr lang="en-GB" dirty="0"/>
              <a:t> use cases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an app hosted on one domain wants to fetch data from a service on another domain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03DD3A-2731-15D4-6AF0-23C3648AC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595" y="2873907"/>
            <a:ext cx="7161835" cy="378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58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A3498E11-5550-2A7D-0B1E-2DF1E749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>
            <a:extLst>
              <a:ext uri="{FF2B5EF4-FFF2-40B4-BE49-F238E27FC236}">
                <a16:creationId xmlns:a16="http://schemas.microsoft.com/office/drawing/2014/main" id="{F5AE6186-657E-BFC5-395D-F1C818EE34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Cross-Origin Resource Sharing (CORS) (2)</a:t>
            </a:r>
            <a:endParaRPr dirty="0"/>
          </a:p>
        </p:txBody>
      </p:sp>
      <p:sp>
        <p:nvSpPr>
          <p:cNvPr id="228" name="Google Shape;228;p36">
            <a:extLst>
              <a:ext uri="{FF2B5EF4-FFF2-40B4-BE49-F238E27FC236}">
                <a16:creationId xmlns:a16="http://schemas.microsoft.com/office/drawing/2014/main" id="{7CE8E30D-E62D-EFDE-2FE1-2B61D5CD9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78417"/>
            <a:ext cx="8520600" cy="55497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Access-Control-Allow-Origin</a:t>
            </a:r>
            <a:r>
              <a:rPr lang="en-GB" dirty="0"/>
              <a:t> header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server can specify which origins are permitted to access their resources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When set to **\***, it allows requests from any origin, making the resource publicly accessible, which is useful for </a:t>
            </a:r>
            <a:r>
              <a:rPr lang="en-GB" b="1" dirty="0"/>
              <a:t>open APIs</a:t>
            </a:r>
            <a:r>
              <a:rPr lang="en-GB" dirty="0"/>
              <a:t> </a:t>
            </a:r>
          </a:p>
          <a:p>
            <a:pPr indent="-317500">
              <a:buSzPts val="1400"/>
              <a:buChar char="○"/>
            </a:pPr>
            <a:r>
              <a:rPr lang="en-GB" dirty="0"/>
              <a:t>CORS involves several other request and response headers that regulate how resources are shared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09EDD8-405F-A2EB-07A9-E212F0F9C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169" y="2760021"/>
            <a:ext cx="7425159" cy="381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860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JSON</a:t>
            </a:r>
            <a:endParaRPr/>
          </a:p>
        </p:txBody>
      </p:sp>
      <p:sp>
        <p:nvSpPr>
          <p:cNvPr id="235" name="Google Shape;235;p37"/>
          <p:cNvSpPr txBox="1">
            <a:spLocks noGrp="1"/>
          </p:cNvSpPr>
          <p:nvPr>
            <p:ph type="body" idx="1"/>
          </p:nvPr>
        </p:nvSpPr>
        <p:spPr>
          <a:xfrm>
            <a:off x="311700" y="1092772"/>
            <a:ext cx="8520600" cy="54794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JavaScript Object Notation </a:t>
            </a:r>
            <a:r>
              <a:rPr lang="en-GB" dirty="0"/>
              <a:t>(JSON)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easy to read and write both for human and machine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open-standard file format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u="sng" dirty="0">
                <a:solidFill>
                  <a:schemeClr val="hlink"/>
                </a:solidFill>
                <a:hlinkClick r:id="rId3"/>
              </a:rPr>
              <a:t>https://tools.ietf.org/html/rfc8259</a:t>
            </a:r>
            <a:r>
              <a:rPr lang="en-GB" dirty="0"/>
              <a:t>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Basic syntax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data is represented in “name : value” pairs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name/value pairs are separated by comma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types: number, string, </a:t>
            </a:r>
            <a:r>
              <a:rPr lang="en-GB" dirty="0" err="1"/>
              <a:t>boolean</a:t>
            </a:r>
            <a:r>
              <a:rPr lang="en-GB" dirty="0"/>
              <a:t>, object, array, null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curly braces hold objects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square brackets holds array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Serialization/deserialization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from a JSON string to language (Java/C#/</a:t>
            </a:r>
            <a:r>
              <a:rPr lang="en-GB" dirty="0" err="1"/>
              <a:t>Javascript</a:t>
            </a:r>
            <a:r>
              <a:rPr lang="en-GB" dirty="0"/>
              <a:t>) object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in JavaScript, you can easily parse JSON data using the </a:t>
            </a:r>
            <a:r>
              <a:rPr lang="en-GB" dirty="0" err="1"/>
              <a:t>JSON.parse</a:t>
            </a:r>
            <a:r>
              <a:rPr lang="en-GB" dirty="0"/>
              <a:t>() method 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parses the string and constructs the JavaScript object described by the string</a:t>
            </a:r>
            <a:endParaRPr lang="it-IT" dirty="0"/>
          </a:p>
          <a:p>
            <a:pPr marL="91440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it-IT" sz="1000" dirty="0">
                <a:latin typeface="Courier New"/>
                <a:ea typeface="Courier New"/>
                <a:cs typeface="Courier New"/>
                <a:sym typeface="Courier New"/>
              </a:rPr>
              <a:t>// Store JSON data in a JS </a:t>
            </a:r>
            <a:r>
              <a:rPr lang="it-IT" sz="1000" dirty="0" err="1">
                <a:latin typeface="Courier New"/>
                <a:ea typeface="Courier New"/>
                <a:cs typeface="Courier New"/>
                <a:sym typeface="Courier New"/>
              </a:rPr>
              <a:t>variable</a:t>
            </a:r>
            <a:endParaRPr lang="it-IT"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let json = '{"name": "Peter", "age": 22, "country": "United States"}';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// Converting JSON-encoded string to JS object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let 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JSON.parse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(json);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// Accessing individual value from JS object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console.log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obj.name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8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HTTP and the Browser</a:t>
            </a:r>
            <a:endParaRPr/>
          </a:p>
        </p:txBody>
      </p:sp>
      <p:sp>
        <p:nvSpPr>
          <p:cNvPr id="242" name="Google Shape;242;p38"/>
          <p:cNvSpPr txBox="1">
            <a:spLocks noGrp="1"/>
          </p:cNvSpPr>
          <p:nvPr>
            <p:ph type="body" idx="1"/>
          </p:nvPr>
        </p:nvSpPr>
        <p:spPr>
          <a:xfrm>
            <a:off x="376475" y="1043725"/>
            <a:ext cx="8520600" cy="5528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A browser will make a GET request on the URL in its address bar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If the resulting HTML references other files (e.g. images, JS files, etc.) then the browser will GET also these resources simultaneously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HTML page can include forms to build method requests:</a:t>
            </a:r>
            <a:endParaRPr dirty="0"/>
          </a:p>
          <a:p>
            <a:pPr marL="91440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&lt;form method="GET" action="example/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message.html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"&gt;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  &lt;p&gt;Name: &lt;input type="text" name="name"&lt;/p&gt;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  &lt;p&gt;Message: &lt;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textarea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name="message"&gt;&lt;/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textarea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&gt;&lt;/p&gt;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  &lt;p&gt;&lt;button type="submit"&gt;Send&lt;/button&gt;&lt;/p&gt;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When the button is pressed, the information in the fields are encoded into a </a:t>
            </a:r>
            <a:r>
              <a:rPr lang="en-GB" b="1" dirty="0"/>
              <a:t>query string </a:t>
            </a:r>
            <a:r>
              <a:rPr lang="en-GB" dirty="0"/>
              <a:t>and the form method (here GET) is requested:</a:t>
            </a:r>
            <a:endParaRPr dirty="0"/>
          </a:p>
          <a:p>
            <a:pPr marL="4572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GET /example/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message.html?name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Jean&amp;message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=Yes HTTP/1.1</a:t>
            </a:r>
            <a:endParaRPr dirty="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79B240CD-B1CE-0067-9329-F6FC3D9C6D78}"/>
              </a:ext>
            </a:extLst>
          </p:cNvPr>
          <p:cNvGrpSpPr/>
          <p:nvPr/>
        </p:nvGrpSpPr>
        <p:grpSpPr>
          <a:xfrm>
            <a:off x="465750" y="3273900"/>
            <a:ext cx="8766450" cy="588600"/>
            <a:chOff x="475275" y="2624830"/>
            <a:chExt cx="8766450" cy="588600"/>
          </a:xfrm>
        </p:grpSpPr>
        <p:cxnSp>
          <p:nvCxnSpPr>
            <p:cNvPr id="243" name="Google Shape;243;p38"/>
            <p:cNvCxnSpPr>
              <a:stCxn id="244" idx="1"/>
            </p:cNvCxnSpPr>
            <p:nvPr/>
          </p:nvCxnSpPr>
          <p:spPr>
            <a:xfrm rot="10800000">
              <a:off x="4937025" y="2798530"/>
              <a:ext cx="1712100" cy="120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4" name="Google Shape;244;p38"/>
            <p:cNvSpPr txBox="1"/>
            <p:nvPr/>
          </p:nvSpPr>
          <p:spPr>
            <a:xfrm>
              <a:off x="6649125" y="2624830"/>
              <a:ext cx="2592600" cy="58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Two </a:t>
              </a:r>
              <a:r>
                <a:rPr lang="en-GB" b="1" dirty="0"/>
                <a:t>fields</a:t>
              </a:r>
              <a:r>
                <a:rPr lang="en-GB" dirty="0"/>
                <a:t> </a:t>
              </a:r>
              <a:br>
                <a:rPr lang="en-GB" dirty="0"/>
              </a:br>
              <a:r>
                <a:rPr lang="en-GB" dirty="0"/>
                <a:t>(text and </a:t>
              </a:r>
              <a:r>
                <a:rPr lang="en-GB" dirty="0" err="1"/>
                <a:t>textarea</a:t>
              </a:r>
              <a:r>
                <a:rPr lang="en-GB" dirty="0"/>
                <a:t>)</a:t>
              </a:r>
              <a:endParaRPr dirty="0"/>
            </a:p>
          </p:txBody>
        </p:sp>
        <p:cxnSp>
          <p:nvCxnSpPr>
            <p:cNvPr id="245" name="Google Shape;245;p38"/>
            <p:cNvCxnSpPr>
              <a:stCxn id="244" idx="1"/>
            </p:cNvCxnSpPr>
            <p:nvPr/>
          </p:nvCxnSpPr>
          <p:spPr>
            <a:xfrm flipH="1">
              <a:off x="5619825" y="2919130"/>
              <a:ext cx="1029300" cy="462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6" name="Google Shape;246;p38"/>
            <p:cNvSpPr txBox="1"/>
            <p:nvPr/>
          </p:nvSpPr>
          <p:spPr>
            <a:xfrm>
              <a:off x="475275" y="2714075"/>
              <a:ext cx="1010100" cy="41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A </a:t>
              </a:r>
              <a:r>
                <a:rPr lang="en-GB" b="1" dirty="0"/>
                <a:t>button</a:t>
              </a:r>
              <a:endParaRPr b="1" dirty="0"/>
            </a:p>
          </p:txBody>
        </p:sp>
        <p:cxnSp>
          <p:nvCxnSpPr>
            <p:cNvPr id="247" name="Google Shape;247;p38"/>
            <p:cNvCxnSpPr/>
            <p:nvPr/>
          </p:nvCxnSpPr>
          <p:spPr>
            <a:xfrm>
              <a:off x="984250" y="3028775"/>
              <a:ext cx="595500" cy="954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248" name="Google Shape;248;p38"/>
          <p:cNvSpPr txBox="1"/>
          <p:nvPr/>
        </p:nvSpPr>
        <p:spPr>
          <a:xfrm>
            <a:off x="2128850" y="5536625"/>
            <a:ext cx="4377900" cy="5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Query string</a:t>
            </a:r>
            <a:r>
              <a:rPr lang="en-GB"/>
              <a:t>, it starts with a question marks, then follow pairs of “name=value” separated by &amp;</a:t>
            </a:r>
            <a:endParaRPr/>
          </a:p>
        </p:txBody>
      </p:sp>
      <p:cxnSp>
        <p:nvCxnSpPr>
          <p:cNvPr id="249" name="Google Shape;249;p38"/>
          <p:cNvCxnSpPr/>
          <p:nvPr/>
        </p:nvCxnSpPr>
        <p:spPr>
          <a:xfrm rot="10800000" flipH="1">
            <a:off x="3676400" y="5364300"/>
            <a:ext cx="116700" cy="2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9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/>
              <a:t>HTTP and the Browser</a:t>
            </a:r>
            <a:endParaRPr dirty="0"/>
          </a:p>
        </p:txBody>
      </p:sp>
      <p:sp>
        <p:nvSpPr>
          <p:cNvPr id="256" name="Google Shape;256;p39"/>
          <p:cNvSpPr txBox="1">
            <a:spLocks noGrp="1"/>
          </p:cNvSpPr>
          <p:nvPr>
            <p:ph type="body" idx="1"/>
          </p:nvPr>
        </p:nvSpPr>
        <p:spPr>
          <a:xfrm>
            <a:off x="418250" y="1272475"/>
            <a:ext cx="8520600" cy="490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/>
              <a:t>If we change the method in the form with POST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request will use POST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query string will be moved in the body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POST /example/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message.html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 HTTP/1.1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Content-length: 24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Content-type: application/x-www-form-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urlencoded</a:t>
            </a:r>
            <a:endParaRPr lang="en-GB" sz="1400" dirty="0"/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name=</a:t>
            </a:r>
            <a:r>
              <a:rPr lang="en-GB" sz="1000" dirty="0" err="1">
                <a:latin typeface="Courier New"/>
                <a:ea typeface="Courier New"/>
                <a:cs typeface="Courier New"/>
                <a:sym typeface="Courier New"/>
              </a:rPr>
              <a:t>Jean&amp;message</a:t>
            </a:r>
            <a:r>
              <a:rPr lang="en-GB" sz="1000" dirty="0">
                <a:latin typeface="Courier New"/>
                <a:ea typeface="Courier New"/>
                <a:cs typeface="Courier New"/>
                <a:sym typeface="Courier New"/>
              </a:rPr>
              <a:t>=Yes</a:t>
            </a:r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lang="en-GB" sz="1000"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Important HTTP conventions: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GET is used for request that </a:t>
            </a:r>
            <a:r>
              <a:rPr lang="en-GB" b="1" dirty="0"/>
              <a:t>do not have side effects </a:t>
            </a:r>
            <a:r>
              <a:rPr lang="en-GB" dirty="0"/>
              <a:t>(e.g. doing a search)</a:t>
            </a:r>
          </a:p>
          <a:p>
            <a:pPr lvl="2">
              <a:spcBef>
                <a:spcPts val="0"/>
              </a:spcBef>
            </a:pPr>
            <a:r>
              <a:rPr lang="en-GB" b="1" dirty="0"/>
              <a:t>safe</a:t>
            </a:r>
            <a:r>
              <a:rPr lang="en-GB" dirty="0"/>
              <a:t> and </a:t>
            </a:r>
            <a:r>
              <a:rPr lang="en-GB" b="1" dirty="0"/>
              <a:t>idempotent</a:t>
            </a:r>
            <a:r>
              <a:rPr lang="en-GB" dirty="0"/>
              <a:t>  (can be applied multiple times without changing the result)</a:t>
            </a:r>
          </a:p>
          <a:p>
            <a:pPr lvl="1">
              <a:spcBef>
                <a:spcPts val="0"/>
              </a:spcBef>
            </a:pPr>
            <a:r>
              <a:rPr lang="en-GB" dirty="0"/>
              <a:t>POST is used for request that </a:t>
            </a:r>
            <a:r>
              <a:rPr lang="en-GB" b="1" dirty="0"/>
              <a:t>change something on the server</a:t>
            </a:r>
            <a:r>
              <a:rPr lang="en-GB" dirty="0"/>
              <a:t> (e.g. posting a message)</a:t>
            </a:r>
          </a:p>
          <a:p>
            <a:pPr lvl="2">
              <a:spcBef>
                <a:spcPts val="0"/>
              </a:spcBef>
            </a:pPr>
            <a:r>
              <a:rPr lang="en-GB" dirty="0"/>
              <a:t>non-safe and non-idempotent</a:t>
            </a:r>
          </a:p>
          <a:p>
            <a:pPr lvl="2">
              <a:spcBef>
                <a:spcPts val="0"/>
              </a:spcBef>
            </a:pPr>
            <a:endParaRPr lang="en-GB" sz="600" dirty="0"/>
          </a:p>
          <a:p>
            <a:r>
              <a:rPr lang="en-GB" dirty="0"/>
              <a:t>Browsers can make HTTP request from JS with </a:t>
            </a:r>
            <a:r>
              <a:rPr lang="en-GB" b="1" dirty="0" err="1"/>
              <a:t>XMLHttpRequest</a:t>
            </a:r>
            <a:r>
              <a:rPr lang="en-GB" b="1" dirty="0"/>
              <a:t>()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designed by Microsoft in 90s (when XML was very popular)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bad design: i</a:t>
            </a:r>
            <a:r>
              <a:rPr lang="en-GB" u="sng" dirty="0"/>
              <a:t>t confuse two distinct concepts</a:t>
            </a:r>
            <a:r>
              <a:rPr lang="en-GB" dirty="0"/>
              <a:t> (making a request and parsing the response)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See 01.HTTPRequest.js</a:t>
            </a: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Asynchronous Requests</a:t>
            </a:r>
            <a:endParaRPr/>
          </a:p>
        </p:txBody>
      </p:sp>
      <p:sp>
        <p:nvSpPr>
          <p:cNvPr id="263" name="Google Shape;263;p40"/>
          <p:cNvSpPr txBox="1">
            <a:spLocks noGrp="1"/>
          </p:cNvSpPr>
          <p:nvPr>
            <p:ph type="body" idx="1"/>
          </p:nvPr>
        </p:nvSpPr>
        <p:spPr>
          <a:xfrm>
            <a:off x="311700" y="1072317"/>
            <a:ext cx="8520600" cy="5364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Synchronous requests block the execution of code</a:t>
            </a:r>
            <a:r>
              <a:rPr lang="en-GB" dirty="0"/>
              <a:t> which creates "freezing" (e.g. unresponsive user experience)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sz="1400" dirty="0"/>
              <a:t>when connection is bad, the server is slow and the file is big…</a:t>
            </a:r>
            <a:endParaRPr sz="1000" dirty="0"/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-GB" dirty="0" err="1"/>
              <a:t>XMLHttpRequest</a:t>
            </a:r>
            <a:r>
              <a:rPr lang="en-GB" dirty="0"/>
              <a:t>() supports also asynchronous communications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See 02.AsyncHTTPRequest.js</a:t>
            </a:r>
            <a:endParaRPr lang="en-GB"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When we call “send” the request gets </a:t>
            </a:r>
            <a:r>
              <a:rPr lang="en-GB" b="1" dirty="0"/>
              <a:t>scheduled</a:t>
            </a:r>
            <a:r>
              <a:rPr lang="en-GB" dirty="0"/>
              <a:t> to be sent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program can continue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the browser will take care of the sending and receiving of data in the background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but as long as the request is running, we won’t be able to access the response</a:t>
            </a: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We must </a:t>
            </a:r>
            <a:r>
              <a:rPr lang="en-GB" b="1" dirty="0"/>
              <a:t>listen</a:t>
            </a:r>
            <a:r>
              <a:rPr lang="en-GB" dirty="0"/>
              <a:t> for the "load" event on the request object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 dirty="0"/>
              <a:t>Asynchronous style of programming</a:t>
            </a:r>
            <a:r>
              <a:rPr lang="en-GB" dirty="0"/>
              <a:t>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wrapping the things that have to be done after the request in a function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arranging for that to be called at the appropriate time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Today </a:t>
            </a:r>
            <a:r>
              <a:rPr lang="en-GB" dirty="0" err="1"/>
              <a:t>XMLHttpRequest</a:t>
            </a:r>
            <a:r>
              <a:rPr lang="en-GB" dirty="0"/>
              <a:t> is outdated and has been replaced by the </a:t>
            </a:r>
            <a:r>
              <a:rPr lang="en-GB" b="1" dirty="0"/>
              <a:t>Fetch API</a:t>
            </a:r>
            <a:r>
              <a:rPr lang="en-GB" dirty="0"/>
              <a:t>, which provides a more modern and flexible way to interact with HTTP resources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It is </a:t>
            </a:r>
            <a:r>
              <a:rPr lang="en-GB" b="1" dirty="0"/>
              <a:t>promise-based</a:t>
            </a:r>
            <a:r>
              <a:rPr lang="en-GB" dirty="0"/>
              <a:t> making it easier to work with asynchronous requests. 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See 03.FetchAPI.js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1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Postman</a:t>
            </a:r>
            <a:endParaRPr/>
          </a:p>
        </p:txBody>
      </p:sp>
      <p:sp>
        <p:nvSpPr>
          <p:cNvPr id="270" name="Google Shape;270;p41"/>
          <p:cNvSpPr txBox="1">
            <a:spLocks noGrp="1"/>
          </p:cNvSpPr>
          <p:nvPr>
            <p:ph type="body" idx="1"/>
          </p:nvPr>
        </p:nvSpPr>
        <p:spPr>
          <a:xfrm>
            <a:off x="311700" y="1269158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An application used to fire HTTP requests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lightweight and fast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requests can be organized in groups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tests can be created with verifications for certain conditions on the response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Support HTTP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different kinds of HTTP requests (GET, POST, PUT, PATCH and DELETE)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add headers to the requests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More interesting features: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variables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pre-request script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 dirty="0"/>
              <a:t>tests</a:t>
            </a:r>
            <a:endParaRPr dirty="0"/>
          </a:p>
        </p:txBody>
      </p:sp>
      <p:pic>
        <p:nvPicPr>
          <p:cNvPr id="271" name="Google Shape;27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251" y="3505208"/>
            <a:ext cx="4722774" cy="301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2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Postman: variables</a:t>
            </a:r>
            <a:endParaRPr/>
          </a:p>
        </p:txBody>
      </p:sp>
      <p:sp>
        <p:nvSpPr>
          <p:cNvPr id="278" name="Google Shape;278;p42"/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Two types of variables: global and environment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global variables are for all requests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environment variables are defined per specific environment 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-GB"/>
              <a:t>selected from a drop-down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Editable by a small eye-shaped icon in the top right corner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Once defined variables can be used in a request with format surrounded by curly brackets {{VARIABLE_NAME}}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/>
              <a:t>Example: set a variable “url” with value “https://jsonplaceholder.typicode.com” </a:t>
            </a:r>
            <a:r>
              <a:rPr lang="en-GB" sz="900">
                <a:solidFill>
                  <a:srgbClr val="505050"/>
                </a:solidFill>
                <a:highlight>
                  <a:srgbClr val="FAFAFA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279" name="Google Shape;279;p42"/>
          <p:cNvGrpSpPr/>
          <p:nvPr/>
        </p:nvGrpSpPr>
        <p:grpSpPr>
          <a:xfrm>
            <a:off x="1874050" y="3651050"/>
            <a:ext cx="5731125" cy="2651250"/>
            <a:chOff x="2079775" y="3636975"/>
            <a:chExt cx="5731125" cy="2651250"/>
          </a:xfrm>
        </p:grpSpPr>
        <p:pic>
          <p:nvPicPr>
            <p:cNvPr id="280" name="Google Shape;280;p42"/>
            <p:cNvPicPr preferRelativeResize="0"/>
            <p:nvPr/>
          </p:nvPicPr>
          <p:blipFill rotWithShape="1">
            <a:blip r:embed="rId3">
              <a:alphaModFix/>
            </a:blip>
            <a:srcRect b="19283"/>
            <a:stretch/>
          </p:blipFill>
          <p:spPr>
            <a:xfrm>
              <a:off x="2079775" y="3781275"/>
              <a:ext cx="5731125" cy="2506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42"/>
            <p:cNvSpPr/>
            <p:nvPr/>
          </p:nvSpPr>
          <p:spPr>
            <a:xfrm>
              <a:off x="6961575" y="3636975"/>
              <a:ext cx="565200" cy="490500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2"/>
            <p:cNvSpPr/>
            <p:nvPr/>
          </p:nvSpPr>
          <p:spPr>
            <a:xfrm>
              <a:off x="7113975" y="5246050"/>
              <a:ext cx="565200" cy="490500"/>
            </a:xfrm>
            <a:prstGeom prst="ellipse">
              <a:avLst/>
            </a:prstGeom>
            <a:noFill/>
            <a:ln w="38100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Postman: Tests</a:t>
            </a:r>
            <a:endParaRPr/>
          </a:p>
        </p:txBody>
      </p:sp>
      <p:sp>
        <p:nvSpPr>
          <p:cNvPr id="289" name="Google Shape;289;p43"/>
          <p:cNvSpPr txBox="1">
            <a:spLocks noGrp="1"/>
          </p:cNvSpPr>
          <p:nvPr>
            <p:ph type="body" idx="1"/>
          </p:nvPr>
        </p:nvSpPr>
        <p:spPr>
          <a:xfrm>
            <a:off x="311700" y="1043733"/>
            <a:ext cx="8520600" cy="462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After a response is received, Postman has a functionality to make verifications on it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 done in “Tests” tab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endParaRPr sz="1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JSON response can be parsed and properties accessed by some JavaScript code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Test are written in the format</a:t>
            </a:r>
            <a:endParaRPr dirty="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 sz="1200" dirty="0">
                <a:latin typeface="Courier New"/>
                <a:ea typeface="Courier New"/>
                <a:cs typeface="Courier New"/>
                <a:sym typeface="Courier New"/>
              </a:rPr>
              <a:t>tests[“TEST_NAME”] = BOOLEAN_CONDITION</a:t>
            </a: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endParaRPr sz="12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dirty="0"/>
              <a:t>Example: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make GET over “{{</a:t>
            </a:r>
            <a:r>
              <a:rPr lang="en-GB" dirty="0" err="1"/>
              <a:t>url</a:t>
            </a:r>
            <a:r>
              <a:rPr lang="en-GB" dirty="0"/>
              <a:t>}}/users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check if the status code is 200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GB" dirty="0"/>
              <a:t>Check if the list of user contains a specific user</a:t>
            </a:r>
            <a:endParaRPr dirty="0"/>
          </a:p>
        </p:txBody>
      </p:sp>
      <p:grpSp>
        <p:nvGrpSpPr>
          <p:cNvPr id="290" name="Google Shape;290;p43"/>
          <p:cNvGrpSpPr/>
          <p:nvPr/>
        </p:nvGrpSpPr>
        <p:grpSpPr>
          <a:xfrm>
            <a:off x="533271" y="4728313"/>
            <a:ext cx="8396377" cy="1601975"/>
            <a:chOff x="543946" y="4931688"/>
            <a:chExt cx="8396377" cy="1601975"/>
          </a:xfrm>
        </p:grpSpPr>
        <p:pic>
          <p:nvPicPr>
            <p:cNvPr id="291" name="Google Shape;29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3946" y="5014700"/>
              <a:ext cx="4855825" cy="143595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92" name="Google Shape;292;p43"/>
            <p:cNvSpPr/>
            <p:nvPr/>
          </p:nvSpPr>
          <p:spPr>
            <a:xfrm>
              <a:off x="3263675" y="5300825"/>
              <a:ext cx="661200" cy="490500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3" name="Google Shape;29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934623" y="4931688"/>
              <a:ext cx="3005700" cy="1601975"/>
            </a:xfrm>
            <a:prstGeom prst="rect">
              <a:avLst/>
            </a:prstGeom>
            <a:noFill/>
            <a:ln w="952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294" name="Google Shape;294;p43"/>
            <p:cNvSpPr/>
            <p:nvPr/>
          </p:nvSpPr>
          <p:spPr>
            <a:xfrm>
              <a:off x="5537300" y="5599338"/>
              <a:ext cx="259800" cy="2667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0000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43"/>
            <p:cNvSpPr/>
            <p:nvPr/>
          </p:nvSpPr>
          <p:spPr>
            <a:xfrm>
              <a:off x="7756975" y="4931700"/>
              <a:ext cx="1138200" cy="490500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Postman: Pre-Request Script</a:t>
            </a:r>
            <a:endParaRPr/>
          </a:p>
        </p:txBody>
      </p:sp>
      <p:sp>
        <p:nvSpPr>
          <p:cNvPr id="302" name="Google Shape;302;p44"/>
          <p:cNvSpPr txBox="1">
            <a:spLocks noGrp="1"/>
          </p:cNvSpPr>
          <p:nvPr>
            <p:ph type="body" idx="1"/>
          </p:nvPr>
        </p:nvSpPr>
        <p:spPr>
          <a:xfrm>
            <a:off x="311700" y="1139608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To do JavaScript coding to manipulate the data being sent with the request</a:t>
            </a:r>
            <a:endParaRPr/>
          </a:p>
          <a:p>
            <a:pPr marL="4572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303" name="Google Shape;30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575" y="4367138"/>
            <a:ext cx="846772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7563" y="2309300"/>
            <a:ext cx="5305425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4"/>
          <p:cNvSpPr/>
          <p:nvPr/>
        </p:nvSpPr>
        <p:spPr>
          <a:xfrm>
            <a:off x="4685250" y="2851900"/>
            <a:ext cx="1522200" cy="490500"/>
          </a:xfrm>
          <a:prstGeom prst="ellipse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5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Postman: more...</a:t>
            </a:r>
            <a:endParaRPr/>
          </a:p>
        </p:txBody>
      </p:sp>
      <p:sp>
        <p:nvSpPr>
          <p:cNvPr id="312" name="Google Shape;312;p45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Collections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Environment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Runner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Complete example: 0.3.Makers.postman_collection.json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grpSp>
        <p:nvGrpSpPr>
          <p:cNvPr id="313" name="Google Shape;313;p45"/>
          <p:cNvGrpSpPr/>
          <p:nvPr/>
        </p:nvGrpSpPr>
        <p:grpSpPr>
          <a:xfrm>
            <a:off x="2741075" y="1213000"/>
            <a:ext cx="5844751" cy="3693951"/>
            <a:chOff x="2698425" y="1374525"/>
            <a:chExt cx="5844751" cy="3693951"/>
          </a:xfrm>
        </p:grpSpPr>
        <p:pic>
          <p:nvPicPr>
            <p:cNvPr id="314" name="Google Shape;314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98425" y="1374525"/>
              <a:ext cx="5844751" cy="36939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5" name="Google Shape;315;p45"/>
            <p:cNvSpPr/>
            <p:nvPr/>
          </p:nvSpPr>
          <p:spPr>
            <a:xfrm>
              <a:off x="3306350" y="1476025"/>
              <a:ext cx="608100" cy="332700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5"/>
            <p:cNvSpPr/>
            <p:nvPr/>
          </p:nvSpPr>
          <p:spPr>
            <a:xfrm>
              <a:off x="3608050" y="4518825"/>
              <a:ext cx="1308900" cy="478800"/>
            </a:xfrm>
            <a:prstGeom prst="ellipse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6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Hands-on Activity</a:t>
            </a:r>
            <a:endParaRPr/>
          </a:p>
        </p:txBody>
      </p:sp>
      <p:sp>
        <p:nvSpPr>
          <p:cNvPr id="323" name="Google Shape;323;p46"/>
          <p:cNvSpPr txBox="1">
            <a:spLocks noGrp="1"/>
          </p:cNvSpPr>
          <p:nvPr>
            <p:ph type="body" idx="1"/>
          </p:nvPr>
        </p:nvSpPr>
        <p:spPr>
          <a:xfrm>
            <a:off x="202700" y="1104350"/>
            <a:ext cx="8818500" cy="51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1600"/>
              </a:spcBef>
            </a:pPr>
            <a:r>
              <a:rPr lang="en-GB" dirty="0"/>
              <a:t>Create a Postman collection to test the API that you can find at the following link </a:t>
            </a:r>
            <a:r>
              <a:rPr lang="en-GB" dirty="0">
                <a:hlinkClick r:id="rId3"/>
              </a:rPr>
              <a:t>https://jsonplaceholder.typicode.com/</a:t>
            </a:r>
            <a:r>
              <a:rPr lang="en-GB" dirty="0"/>
              <a:t>. You have to post some “comments” and get a list of previous “posts”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9b5433c-2372-4cb7-8bab-09518096b29b" xsi:nil="true"/>
    <lcf76f155ced4ddcb4097134ff3c332f xmlns="3bd0d43f-5e5b-43cd-b6fc-691bd77672c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8FA822B18A0634FB7342CF29752587A" ma:contentTypeVersion="13" ma:contentTypeDescription="Creare un nuovo documento." ma:contentTypeScope="" ma:versionID="5c5a1a1f66437ceed8e2102d49525b77">
  <xsd:schema xmlns:xsd="http://www.w3.org/2001/XMLSchema" xmlns:xs="http://www.w3.org/2001/XMLSchema" xmlns:p="http://schemas.microsoft.com/office/2006/metadata/properties" xmlns:ns2="3bd0d43f-5e5b-43cd-b6fc-691bd77672c6" xmlns:ns3="e9b5433c-2372-4cb7-8bab-09518096b29b" targetNamespace="http://schemas.microsoft.com/office/2006/metadata/properties" ma:root="true" ma:fieldsID="79bbaae61552c66980d55f32a6cab4b6" ns2:_="" ns3:_="">
    <xsd:import namespace="3bd0d43f-5e5b-43cd-b6fc-691bd77672c6"/>
    <xsd:import namespace="e9b5433c-2372-4cb7-8bab-09518096b2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d0d43f-5e5b-43cd-b6fc-691bd77672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b3f316dc-fb4b-4146-8b22-f4ef2efe4b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5433c-2372-4cb7-8bab-09518096b29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c4bbe8c-9a55-4d5f-b385-d948ddfe6c4d}" ma:internalName="TaxCatchAll" ma:showField="CatchAllData" ma:web="e9b5433c-2372-4cb7-8bab-09518096b2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95B601-9D0D-4CC7-B8CB-84E474B9C3D5}">
  <ds:schemaRefs>
    <ds:schemaRef ds:uri="e9b5433c-2372-4cb7-8bab-09518096b29b"/>
    <ds:schemaRef ds:uri="http://purl.org/dc/terms/"/>
    <ds:schemaRef ds:uri="3bd0d43f-5e5b-43cd-b6fc-691bd77672c6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FB5009F-40E9-4F2F-8EC9-2357FE28D6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3A1F6A-8B6B-4F5E-9CCD-37213E20A1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d0d43f-5e5b-43cd-b6fc-691bd77672c6"/>
    <ds:schemaRef ds:uri="e9b5433c-2372-4cb7-8bab-09518096b2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2669</Words>
  <Application>Microsoft Macintosh PowerPoint</Application>
  <PresentationFormat>Presentazione su schermo (4:3)</PresentationFormat>
  <Paragraphs>333</Paragraphs>
  <Slides>28</Slides>
  <Notes>28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28</vt:i4>
      </vt:variant>
    </vt:vector>
  </HeadingPairs>
  <TitlesOfParts>
    <vt:vector size="34" baseType="lpstr">
      <vt:lpstr>Courier New</vt:lpstr>
      <vt:lpstr>Arial</vt:lpstr>
      <vt:lpstr>Economica</vt:lpstr>
      <vt:lpstr>Open Sans</vt:lpstr>
      <vt:lpstr>Luxe</vt:lpstr>
      <vt:lpstr>Luxe</vt:lpstr>
      <vt:lpstr>HTTP</vt:lpstr>
      <vt:lpstr>Introduction</vt:lpstr>
      <vt:lpstr>Basic features</vt:lpstr>
      <vt:lpstr>Elements</vt:lpstr>
      <vt:lpstr>Resources, URLs and Verbs</vt:lpstr>
      <vt:lpstr>Status Codes </vt:lpstr>
      <vt:lpstr>Headers</vt:lpstr>
      <vt:lpstr>Message Body</vt:lpstr>
      <vt:lpstr>HTTP Message</vt:lpstr>
      <vt:lpstr>Content Negotiation</vt:lpstr>
      <vt:lpstr>Caches (1)</vt:lpstr>
      <vt:lpstr>Caches (2)</vt:lpstr>
      <vt:lpstr>Conditionals (1)</vt:lpstr>
      <vt:lpstr>Conditionals (2)</vt:lpstr>
      <vt:lpstr>Authentication (1)</vt:lpstr>
      <vt:lpstr>Authentication (2)</vt:lpstr>
      <vt:lpstr>Cross-Origin Resource Sharing (CORS) (1)</vt:lpstr>
      <vt:lpstr>Cross-Origin Resource Sharing (CORS) (2)</vt:lpstr>
      <vt:lpstr>JSON</vt:lpstr>
      <vt:lpstr>HTTP and the Browser</vt:lpstr>
      <vt:lpstr>HTTP and the Browser</vt:lpstr>
      <vt:lpstr>Asynchronous Requests</vt:lpstr>
      <vt:lpstr>Postman</vt:lpstr>
      <vt:lpstr>Postman: variables</vt:lpstr>
      <vt:lpstr>Postman: Tests</vt:lpstr>
      <vt:lpstr>Postman: Pre-Request Script</vt:lpstr>
      <vt:lpstr>Postman: more...</vt:lpstr>
      <vt:lpstr>Hands-on Activity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and Postman</dc:title>
  <cp:lastModifiedBy>Riccardo Berta</cp:lastModifiedBy>
  <cp:revision>4</cp:revision>
  <dcterms:modified xsi:type="dcterms:W3CDTF">2026-04-22T06:54:57Z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0x010100B8FA822B18A0634FB7342CF29752587A</vt:lpwstr>
  </property>
</Properties>
</file>